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notesMaster" Target="notesMasters/notesMaster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 FINISH (not shown to investors): drop headshots into decks/photos/ss.png, rg.png, ap.png and rerun build_deck.py. Add one real credential per line for Revanth and Aarush. Confirm titles: Srikanth CEO, Revanth CTO, Aarush Engineering.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635240" y="0"/>
            <a:ext cx="4556455" cy="6858000"/>
          </a:xfrm>
          <a:prstGeom prst="rect">
            <a:avLst/>
          </a:prstGeom>
          <a:solidFill>
            <a:srgbClr val="1519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092440" y="2148840"/>
            <a:ext cx="3566160" cy="167609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092440" y="2148840"/>
            <a:ext cx="3566160" cy="192750"/>
          </a:xfrm>
          <a:prstGeom prst="rect">
            <a:avLst/>
          </a:prstGeom>
          <a:solidFill>
            <a:srgbClr val="1B2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325612" y="2204067"/>
            <a:ext cx="82296" cy="82296"/>
          </a:xfrm>
          <a:prstGeom prst="ellipse">
            <a:avLst/>
          </a:prstGeom>
          <a:solidFill>
            <a:srgbClr val="9AA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526780" y="2204067"/>
            <a:ext cx="82296" cy="82296"/>
          </a:xfrm>
          <a:prstGeom prst="ellipse">
            <a:avLst/>
          </a:prstGeom>
          <a:solidFill>
            <a:srgbClr val="9AA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27948" y="2204067"/>
            <a:ext cx="82296" cy="82296"/>
          </a:xfrm>
          <a:prstGeom prst="ellipse">
            <a:avLst/>
          </a:prstGeom>
          <a:solidFill>
            <a:srgbClr val="9AA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098280" y="2148840"/>
            <a:ext cx="2286000" cy="192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 spc="120">
                <a:solidFill>
                  <a:srgbClr val="9AA6C8"/>
                </a:solidFill>
                <a:latin typeface="Menlo"/>
              </a:rPr>
              <a:t>REVIVE · CONSOLE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319461" y="2487894"/>
            <a:ext cx="1143000" cy="310896"/>
          </a:xfrm>
          <a:prstGeom prst="roundRect">
            <a:avLst/>
          </a:prstGeom>
          <a:solidFill>
            <a:srgbClr val="E9F4EF"/>
          </a:solidFill>
          <a:ln w="12700">
            <a:solidFill>
              <a:srgbClr val="148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319461" y="2487894"/>
            <a:ext cx="11430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 spc="80">
                <a:solidFill>
                  <a:srgbClr val="148060"/>
                </a:solidFill>
                <a:latin typeface="Menlo"/>
              </a:rPr>
              <a:t>RESUMED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88578" y="2506182"/>
            <a:ext cx="1783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51922"/>
                </a:solidFill>
                <a:latin typeface="Menlo"/>
              </a:rPr>
              <a:t>case_a1b2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88578" y="3109686"/>
            <a:ext cx="3173882" cy="20116"/>
          </a:xfrm>
          <a:prstGeom prst="rect">
            <a:avLst/>
          </a:prstGeom>
          <a:solidFill>
            <a:srgbClr val="C9CE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238286" y="3068538"/>
            <a:ext cx="100584" cy="100584"/>
          </a:xfrm>
          <a:prstGeom prst="ellipse">
            <a:avLst/>
          </a:prstGeom>
          <a:solidFill>
            <a:srgbClr val="496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031757" y="3068538"/>
            <a:ext cx="100584" cy="100584"/>
          </a:xfrm>
          <a:prstGeom prst="ellipse">
            <a:avLst/>
          </a:prstGeom>
          <a:solidFill>
            <a:srgbClr val="496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825228" y="3068538"/>
            <a:ext cx="100584" cy="100584"/>
          </a:xfrm>
          <a:prstGeom prst="ellipse">
            <a:avLst/>
          </a:prstGeom>
          <a:solidFill>
            <a:srgbClr val="496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618698" y="3068538"/>
            <a:ext cx="100584" cy="100584"/>
          </a:xfrm>
          <a:prstGeom prst="ellipse">
            <a:avLst/>
          </a:prstGeom>
          <a:solidFill>
            <a:srgbClr val="496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1412169" y="3068538"/>
            <a:ext cx="100584" cy="100584"/>
          </a:xfrm>
          <a:prstGeom prst="ellipse">
            <a:avLst/>
          </a:prstGeom>
          <a:solidFill>
            <a:srgbClr val="148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88578" y="3438870"/>
            <a:ext cx="3173882" cy="411480"/>
          </a:xfrm>
          <a:prstGeom prst="rect">
            <a:avLst/>
          </a:prstGeom>
          <a:solidFill>
            <a:srgbClr val="E9F4EF"/>
          </a:solidFill>
          <a:ln w="12700">
            <a:solidFill>
              <a:srgbClr val="148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17178" y="3438870"/>
            <a:ext cx="2808122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148060"/>
                </a:solidFill>
                <a:latin typeface="Helvetica Neue"/>
              </a:rPr>
              <a:t>✓  </a:t>
            </a:r>
            <a:r>
              <a:rPr sz="1100" b="1" i="0">
                <a:solidFill>
                  <a:srgbClr val="151922"/>
                </a:solidFill>
                <a:latin typeface="Helvetica Neue"/>
              </a:rPr>
              <a:t>not charged twice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92440" y="4892040"/>
            <a:ext cx="35661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9AA6C8"/>
                </a:solidFill>
                <a:latin typeface="Helvetica Neue"/>
              </a:rPr>
              <a:t>A real recovery record.
</a:t>
            </a:r>
            <a:r>
              <a:rPr sz="1200" b="1" i="0">
                <a:solidFill>
                  <a:srgbClr val="FFFFFF"/>
                </a:solidFill>
                <a:latin typeface="Helvetica Neue"/>
              </a:rPr>
              <a:t>Live at revivelabs.app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92608" y="285292"/>
            <a:ext cx="146304" cy="14630"/>
          </a:xfrm>
          <a:prstGeom prst="rect">
            <a:avLst/>
          </a:prstGeom>
          <a:solidFill>
            <a:srgbClr val="C9CE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85292" y="292608"/>
            <a:ext cx="14630" cy="146304"/>
          </a:xfrm>
          <a:prstGeom prst="rect">
            <a:avLst/>
          </a:prstGeom>
          <a:solidFill>
            <a:srgbClr val="C9CE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752783" y="285292"/>
            <a:ext cx="146304" cy="14630"/>
          </a:xfrm>
          <a:prstGeom prst="rect">
            <a:avLst/>
          </a:prstGeom>
          <a:solidFill>
            <a:srgbClr val="C9CE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1891772" y="292608"/>
            <a:ext cx="14630" cy="146304"/>
          </a:xfrm>
          <a:prstGeom prst="rect">
            <a:avLst/>
          </a:prstGeom>
          <a:solidFill>
            <a:srgbClr val="C9CE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92608" y="6558076"/>
            <a:ext cx="146304" cy="14630"/>
          </a:xfrm>
          <a:prstGeom prst="rect">
            <a:avLst/>
          </a:prstGeom>
          <a:solidFill>
            <a:srgbClr val="C9CE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85292" y="6419088"/>
            <a:ext cx="14630" cy="146304"/>
          </a:xfrm>
          <a:prstGeom prst="rect">
            <a:avLst/>
          </a:prstGeom>
          <a:solidFill>
            <a:srgbClr val="C9CE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1752783" y="6558076"/>
            <a:ext cx="146304" cy="14630"/>
          </a:xfrm>
          <a:prstGeom prst="rect">
            <a:avLst/>
          </a:prstGeom>
          <a:solidFill>
            <a:srgbClr val="C9CE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891772" y="6419088"/>
            <a:ext cx="14630" cy="146304"/>
          </a:xfrm>
          <a:prstGeom prst="rect">
            <a:avLst/>
          </a:prstGeom>
          <a:solidFill>
            <a:srgbClr val="C9CE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960" y="868680"/>
            <a:ext cx="8229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 spc="240">
                <a:solidFill>
                  <a:srgbClr val="2E49C8"/>
                </a:solidFill>
                <a:latin typeface="Menlo"/>
              </a:rPr>
              <a:t>AGENT RECOVERY CONTROL PLANE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8" y="1417320"/>
            <a:ext cx="676656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800" b="1" i="0">
                <a:solidFill>
                  <a:srgbClr val="151922"/>
                </a:solidFill>
                <a:latin typeface="Helvetica Neue"/>
              </a:rPr>
              <a:t>Revive</a:t>
            </a:r>
            <a:r>
              <a:rPr sz="10800" b="0" i="0">
                <a:solidFill>
                  <a:srgbClr val="4967F2"/>
                </a:solidFill>
                <a:latin typeface="Helvetica Neue"/>
              </a:rPr>
              <a:t>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3520440"/>
            <a:ext cx="630936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 i="0">
                <a:solidFill>
                  <a:srgbClr val="151922"/>
                </a:solidFill>
                <a:latin typeface="Helvetica Neue"/>
              </a:rPr>
              <a:t>AI agents are starting to act:
sending, buying, paying.</a:t>
            </a:r>
          </a:p>
          <a:p>
            <a:pPr algn="l">
              <a:lnSpc>
                <a:spcPct val="120000"/>
              </a:lnSpc>
              <a:spcBef>
                <a:spcPts val="1200"/>
              </a:spcBef>
            </a:pPr>
            <a:r>
              <a:rPr sz="1600" b="0" i="0">
                <a:solidFill>
                  <a:srgbClr val="66707E"/>
                </a:solidFill>
                <a:latin typeface="Helvetica Neue"/>
              </a:rPr>
              <a:t>When one fails, Revive picks it back up </a:t>
            </a:r>
            <a:r>
              <a:rPr sz="1600" b="1" i="0">
                <a:solidFill>
                  <a:srgbClr val="2E49C8"/>
                </a:solidFill>
                <a:latin typeface="Helvetica Neue"/>
              </a:rPr>
              <a:t>without doing it twice.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598932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 spc="220">
                <a:solidFill>
                  <a:srgbClr val="8A929D"/>
                </a:solidFill>
                <a:latin typeface="Menlo"/>
              </a:rPr>
              <a:t>PRE-SEED</a:t>
            </a:r>
            <a:r>
              <a:rPr sz="1050" b="0" i="0">
                <a:solidFill>
                  <a:srgbClr val="66707E"/>
                </a:solidFill>
                <a:latin typeface="Menlo"/>
              </a:rPr>
              <a:t>     pip install revive-sdk     certified in production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235440" y="320040"/>
            <a:ext cx="274320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5000" b="1" i="0">
                <a:solidFill>
                  <a:srgbClr val="E4E7DF"/>
                </a:solidFill>
                <a:latin typeface="Menlo"/>
              </a:rPr>
              <a:t>02</a:t>
            </a:r>
          </a:p>
        </p:txBody>
      </p:sp>
      <p:sp>
        <p:nvSpPr>
          <p:cNvPr id="4" name="Rectangle 3"/>
          <p:cNvSpPr/>
          <p:nvPr/>
        </p:nvSpPr>
        <p:spPr>
          <a:xfrm>
            <a:off x="292608" y="285292"/>
            <a:ext cx="146304" cy="14630"/>
          </a:xfrm>
          <a:prstGeom prst="rect">
            <a:avLst/>
          </a:prstGeom>
          <a:solidFill>
            <a:srgbClr val="C9CE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85292" y="292608"/>
            <a:ext cx="14630" cy="146304"/>
          </a:xfrm>
          <a:prstGeom prst="rect">
            <a:avLst/>
          </a:prstGeom>
          <a:solidFill>
            <a:srgbClr val="C9CE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752783" y="285292"/>
            <a:ext cx="146304" cy="14630"/>
          </a:xfrm>
          <a:prstGeom prst="rect">
            <a:avLst/>
          </a:prstGeom>
          <a:solidFill>
            <a:srgbClr val="C9CE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891772" y="292608"/>
            <a:ext cx="14630" cy="146304"/>
          </a:xfrm>
          <a:prstGeom prst="rect">
            <a:avLst/>
          </a:prstGeom>
          <a:solidFill>
            <a:srgbClr val="C9CE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92608" y="6558076"/>
            <a:ext cx="146304" cy="14630"/>
          </a:xfrm>
          <a:prstGeom prst="rect">
            <a:avLst/>
          </a:prstGeom>
          <a:solidFill>
            <a:srgbClr val="C9CE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85292" y="6419088"/>
            <a:ext cx="14630" cy="146304"/>
          </a:xfrm>
          <a:prstGeom prst="rect">
            <a:avLst/>
          </a:prstGeom>
          <a:solidFill>
            <a:srgbClr val="C9CE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752783" y="6558076"/>
            <a:ext cx="146304" cy="14630"/>
          </a:xfrm>
          <a:prstGeom prst="rect">
            <a:avLst/>
          </a:prstGeom>
          <a:solidFill>
            <a:srgbClr val="C9CE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891772" y="6419088"/>
            <a:ext cx="14630" cy="146304"/>
          </a:xfrm>
          <a:prstGeom prst="rect">
            <a:avLst/>
          </a:prstGeom>
          <a:solidFill>
            <a:srgbClr val="C9CE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777240"/>
            <a:ext cx="8229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 spc="240">
                <a:solidFill>
                  <a:srgbClr val="2E49C8"/>
                </a:solidFill>
                <a:latin typeface="Menlo"/>
              </a:rPr>
              <a:t>WHY NOW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1188720"/>
            <a:ext cx="9601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151922"/>
                </a:solidFill>
                <a:latin typeface="Helvetica Neue"/>
              </a:rPr>
              <a:t>Software just started acting for us.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406139"/>
            <a:ext cx="4480560" cy="897774"/>
          </a:xfrm>
          <a:prstGeom prst="rect">
            <a:avLst/>
          </a:prstGeom>
          <a:noFill/>
        </p:spPr>
        <p:txBody>
          <a:bodyPr wrap="none" lIns="0" rIns="0" tIns="0" bIns="0" anchor="b">
            <a:spAutoFit/>
          </a:bodyPr>
          <a:lstStyle/>
          <a:p>
            <a:pPr algn="l"/>
            <a:r>
              <a:rPr sz="3000" b="1" i="0" spc="40">
                <a:solidFill>
                  <a:srgbClr val="66707E"/>
                </a:solidFill>
                <a:latin typeface="Helvetica Neue"/>
              </a:rPr>
              <a:t>TALK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86968" y="4087368"/>
            <a:ext cx="2377440" cy="27432"/>
          </a:xfrm>
          <a:prstGeom prst="rect">
            <a:avLst/>
          </a:prstGeom>
          <a:solidFill>
            <a:srgbClr val="C9CE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6968" y="4251959"/>
            <a:ext cx="29260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 spc="240">
                <a:solidFill>
                  <a:srgbClr val="8A929D"/>
                </a:solidFill>
                <a:latin typeface="Menlo"/>
              </a:rPr>
              <a:t>2023 TO 2024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6968" y="4581144"/>
            <a:ext cx="30175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51922"/>
                </a:solidFill>
                <a:latin typeface="Helvetica Neue"/>
              </a:rPr>
              <a:t>Chatbots and copilots.
</a:t>
            </a:r>
            <a:r>
              <a:rPr sz="1200" b="0" i="0">
                <a:solidFill>
                  <a:srgbClr val="66707E"/>
                </a:solidFill>
                <a:latin typeface="Helvetica Neue"/>
              </a:rPr>
              <a:t>A wrong answer is annoying.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77639" y="2987040"/>
            <a:ext cx="4480560" cy="1354974"/>
          </a:xfrm>
          <a:prstGeom prst="rect">
            <a:avLst/>
          </a:prstGeom>
          <a:noFill/>
        </p:spPr>
        <p:txBody>
          <a:bodyPr wrap="none" lIns="0" rIns="0" tIns="0" bIns="0" anchor="b">
            <a:spAutoFit/>
          </a:bodyPr>
          <a:lstStyle/>
          <a:p>
            <a:pPr algn="l"/>
            <a:r>
              <a:rPr sz="5200" b="1" i="0" spc="40">
                <a:solidFill>
                  <a:srgbClr val="151922"/>
                </a:solidFill>
                <a:latin typeface="Helvetica Neue"/>
              </a:rPr>
              <a:t>ACT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995927" y="4087368"/>
            <a:ext cx="2377440" cy="27432"/>
          </a:xfrm>
          <a:prstGeom prst="rect">
            <a:avLst/>
          </a:prstGeom>
          <a:solidFill>
            <a:srgbClr val="C9CE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95927" y="4251959"/>
            <a:ext cx="29260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 spc="240">
                <a:solidFill>
                  <a:srgbClr val="8A929D"/>
                </a:solidFill>
                <a:latin typeface="Menlo"/>
              </a:rPr>
              <a:t>2026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95927" y="4581144"/>
            <a:ext cx="30175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51922"/>
                </a:solidFill>
                <a:latin typeface="Helvetica Neue"/>
              </a:rPr>
              <a:t>Agents send, buy, pay.
</a:t>
            </a:r>
            <a:r>
              <a:rPr sz="1200" b="0" i="0">
                <a:solidFill>
                  <a:srgbClr val="66707E"/>
                </a:solidFill>
                <a:latin typeface="Helvetica Neue"/>
              </a:rPr>
              <a:t>A wrong action is real damage.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52360" y="2567939"/>
            <a:ext cx="4480560" cy="1812174"/>
          </a:xfrm>
          <a:prstGeom prst="rect">
            <a:avLst/>
          </a:prstGeom>
          <a:noFill/>
        </p:spPr>
        <p:txBody>
          <a:bodyPr wrap="none" lIns="0" rIns="0" tIns="0" bIns="0" anchor="b">
            <a:spAutoFit/>
          </a:bodyPr>
          <a:lstStyle/>
          <a:p>
            <a:pPr algn="l"/>
            <a:r>
              <a:rPr sz="7400" b="1" i="0" spc="40">
                <a:solidFill>
                  <a:srgbClr val="2E49C8"/>
                </a:solidFill>
                <a:latin typeface="Helvetica Neue"/>
              </a:rPr>
              <a:t>SCALE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0648" y="4087368"/>
            <a:ext cx="2743200" cy="27432"/>
          </a:xfrm>
          <a:prstGeom prst="rect">
            <a:avLst/>
          </a:prstGeom>
          <a:solidFill>
            <a:srgbClr val="2E4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70648" y="4251959"/>
            <a:ext cx="29260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 spc="240">
                <a:solidFill>
                  <a:srgbClr val="2E49C8"/>
                </a:solidFill>
                <a:latin typeface="Menlo"/>
              </a:rPr>
              <a:t>NEXT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70648" y="4581144"/>
            <a:ext cx="30175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51922"/>
                </a:solidFill>
                <a:latin typeface="Helvetica Neue"/>
              </a:rPr>
              <a:t>Millions acting daily.
</a:t>
            </a:r>
            <a:r>
              <a:rPr sz="1200" b="0" i="0">
                <a:solidFill>
                  <a:srgbClr val="66707E"/>
                </a:solidFill>
                <a:latin typeface="Helvetica Neue"/>
              </a:rPr>
              <a:t>Failure becomes a daily event.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68680" y="5806440"/>
            <a:ext cx="10515600" cy="713232"/>
          </a:xfrm>
          <a:prstGeom prst="rect">
            <a:avLst/>
          </a:prstGeom>
          <a:solidFill>
            <a:srgbClr val="D9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22960" y="5760720"/>
            <a:ext cx="10515600" cy="713232"/>
          </a:xfrm>
          <a:prstGeom prst="rect">
            <a:avLst/>
          </a:prstGeom>
          <a:solidFill>
            <a:srgbClr val="1519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43000" y="5760720"/>
            <a:ext cx="996696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 b="0" i="0">
                <a:solidFill>
                  <a:srgbClr val="9AA6C8"/>
                </a:solidFill>
                <a:latin typeface="Helvetica Neue"/>
              </a:rPr>
              <a:t>Payments got Stripe. Outages got PagerDuty. </a:t>
            </a:r>
            <a:r>
              <a:rPr sz="1450" b="1" i="0">
                <a:solidFill>
                  <a:srgbClr val="FFFFFF"/>
                </a:solidFill>
                <a:latin typeface="Helvetica Neue"/>
              </a:rPr>
              <a:t>Agents acting in the real world get Revive.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200">
                <a:solidFill>
                  <a:srgbClr val="8A929D"/>
                </a:solidFill>
                <a:latin typeface="Menlo"/>
              </a:rPr>
              <a:t>REVIVE · SEED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519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235440" y="320040"/>
            <a:ext cx="274320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5000" b="1" i="0">
                <a:solidFill>
                  <a:srgbClr val="1E2431"/>
                </a:solidFill>
                <a:latin typeface="Menlo"/>
              </a:rPr>
              <a:t>03</a:t>
            </a:r>
          </a:p>
        </p:txBody>
      </p:sp>
      <p:sp>
        <p:nvSpPr>
          <p:cNvPr id="4" name="Rectangle 3"/>
          <p:cNvSpPr/>
          <p:nvPr/>
        </p:nvSpPr>
        <p:spPr>
          <a:xfrm>
            <a:off x="292608" y="285292"/>
            <a:ext cx="146304" cy="14630"/>
          </a:xfrm>
          <a:prstGeom prst="rect">
            <a:avLst/>
          </a:prstGeom>
          <a:solidFill>
            <a:srgbClr val="1E24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85292" y="292608"/>
            <a:ext cx="14630" cy="146304"/>
          </a:xfrm>
          <a:prstGeom prst="rect">
            <a:avLst/>
          </a:prstGeom>
          <a:solidFill>
            <a:srgbClr val="1E24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752783" y="285292"/>
            <a:ext cx="146304" cy="14630"/>
          </a:xfrm>
          <a:prstGeom prst="rect">
            <a:avLst/>
          </a:prstGeom>
          <a:solidFill>
            <a:srgbClr val="1E24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891772" y="292608"/>
            <a:ext cx="14630" cy="146304"/>
          </a:xfrm>
          <a:prstGeom prst="rect">
            <a:avLst/>
          </a:prstGeom>
          <a:solidFill>
            <a:srgbClr val="1E24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92608" y="6558076"/>
            <a:ext cx="146304" cy="14630"/>
          </a:xfrm>
          <a:prstGeom prst="rect">
            <a:avLst/>
          </a:prstGeom>
          <a:solidFill>
            <a:srgbClr val="1E24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85292" y="6419088"/>
            <a:ext cx="14630" cy="146304"/>
          </a:xfrm>
          <a:prstGeom prst="rect">
            <a:avLst/>
          </a:prstGeom>
          <a:solidFill>
            <a:srgbClr val="1E24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752783" y="6558076"/>
            <a:ext cx="146304" cy="14630"/>
          </a:xfrm>
          <a:prstGeom prst="rect">
            <a:avLst/>
          </a:prstGeom>
          <a:solidFill>
            <a:srgbClr val="1E24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891772" y="6419088"/>
            <a:ext cx="14630" cy="146304"/>
          </a:xfrm>
          <a:prstGeom prst="rect">
            <a:avLst/>
          </a:prstGeom>
          <a:solidFill>
            <a:srgbClr val="1E24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777240"/>
            <a:ext cx="8229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 spc="240">
                <a:solidFill>
                  <a:srgbClr val="E86A5F"/>
                </a:solidFill>
                <a:latin typeface="Menlo"/>
              </a:rPr>
              <a:t>THE PROBLEM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1188720"/>
            <a:ext cx="1060704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FFFFFF"/>
                </a:solidFill>
                <a:latin typeface="Helvetica Neue"/>
              </a:rPr>
              <a:t>It's 3am. Your agent just
charged the customer </a:t>
            </a:r>
            <a:r>
              <a:rPr sz="3400" b="1" i="0">
                <a:solidFill>
                  <a:srgbClr val="E86A5F"/>
                </a:solidFill>
                <a:latin typeface="Helvetica Neue"/>
              </a:rPr>
              <a:t>twice.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3063240"/>
            <a:ext cx="6949440" cy="2834640"/>
          </a:xfrm>
          <a:prstGeom prst="rect">
            <a:avLst/>
          </a:prstGeom>
          <a:solidFill>
            <a:srgbClr val="1B202B"/>
          </a:solidFill>
          <a:ln w="12700">
            <a:solidFill>
              <a:srgbClr val="1E24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43000" y="33832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555F74"/>
                </a:solidFill>
                <a:latin typeface="Menlo"/>
              </a:rPr>
              <a:t>03:07:41  </a:t>
            </a:r>
            <a:r>
              <a:rPr sz="1150" b="0" i="0">
                <a:solidFill>
                  <a:srgbClr val="9AA6C8"/>
                </a:solidFill>
                <a:latin typeface="Menlo"/>
              </a:rPr>
              <a:t>agent/invoice-runner   step 4 of 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385876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555F74"/>
                </a:solidFill>
                <a:latin typeface="Menlo"/>
              </a:rPr>
              <a:t>03:07:41  </a:t>
            </a:r>
            <a:r>
              <a:rPr sz="1150" b="0" i="0">
                <a:solidFill>
                  <a:srgbClr val="9AA6C8"/>
                </a:solidFill>
                <a:latin typeface="Menlo"/>
              </a:rPr>
              <a:t>POST /v1/charges   $49.00 ............ 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4334256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555F74"/>
                </a:solidFill>
                <a:latin typeface="Menlo"/>
              </a:rPr>
              <a:t>03:07:44  </a:t>
            </a:r>
            <a:r>
              <a:rPr sz="1150" b="0" i="0">
                <a:solidFill>
                  <a:srgbClr val="D9A43F"/>
                </a:solidFill>
                <a:latin typeface="Menlo"/>
              </a:rPr>
              <a:t>credential expired mid-run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4809744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555F74"/>
                </a:solidFill>
                <a:latin typeface="Menlo"/>
              </a:rPr>
              <a:t>03:07:52  </a:t>
            </a:r>
            <a:r>
              <a:rPr sz="1150" b="0" i="0">
                <a:solidFill>
                  <a:srgbClr val="FFFFFF"/>
                </a:solidFill>
                <a:latin typeface="Menlo"/>
              </a:rPr>
              <a:t>retry #1   POST /v1/charges   $49.00 .. ok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87552" y="5221223"/>
            <a:ext cx="6620255" cy="384048"/>
          </a:xfrm>
          <a:prstGeom prst="rect">
            <a:avLst/>
          </a:prstGeom>
          <a:solidFill>
            <a:srgbClr val="331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43000" y="5285231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555F74"/>
                </a:solidFill>
                <a:latin typeface="Menlo"/>
              </a:rPr>
              <a:t>03:07:52  </a:t>
            </a:r>
            <a:r>
              <a:rPr sz="1150" b="1" i="0">
                <a:solidFill>
                  <a:srgbClr val="E86A5F"/>
                </a:solidFill>
                <a:latin typeface="Menlo"/>
              </a:rPr>
              <a:t>DUPLICATE CHARGE. customer billed twice.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0" y="3063240"/>
            <a:ext cx="45720" cy="749808"/>
          </a:xfrm>
          <a:prstGeom prst="rect">
            <a:avLst/>
          </a:prstGeom>
          <a:solidFill>
            <a:srgbClr val="E86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58200" y="3063240"/>
            <a:ext cx="30175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 spc="140">
                <a:solidFill>
                  <a:srgbClr val="E86A5F"/>
                </a:solidFill>
                <a:latin typeface="Menlo"/>
              </a:rPr>
              <a:t>IF YOU RETRY
</a:t>
            </a:r>
          </a:p>
          <a:p>
            <a:pPr algn="l">
              <a:spcBef>
                <a:spcPts val="200"/>
              </a:spcBef>
            </a:pPr>
            <a:r>
              <a:rPr sz="1500" b="1" i="0">
                <a:solidFill>
                  <a:srgbClr val="FFFFFF"/>
                </a:solidFill>
                <a:latin typeface="Helvetica Neue"/>
              </a:rPr>
              <a:t>it sends twice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0" y="4087368"/>
            <a:ext cx="45720" cy="749808"/>
          </a:xfrm>
          <a:prstGeom prst="rect">
            <a:avLst/>
          </a:prstGeom>
          <a:solidFill>
            <a:srgbClr val="E86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58200" y="4087368"/>
            <a:ext cx="30175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 spc="140">
                <a:solidFill>
                  <a:srgbClr val="E86A5F"/>
                </a:solidFill>
                <a:latin typeface="Menlo"/>
              </a:rPr>
              <a:t>IF YOU SKIP
</a:t>
            </a:r>
          </a:p>
          <a:p>
            <a:pPr algn="l">
              <a:spcBef>
                <a:spcPts val="200"/>
              </a:spcBef>
            </a:pPr>
            <a:r>
              <a:rPr sz="1500" b="1" i="0">
                <a:solidFill>
                  <a:srgbClr val="FFFFFF"/>
                </a:solidFill>
                <a:latin typeface="Helvetica Neue"/>
              </a:rPr>
              <a:t>the job breaks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0" y="5111496"/>
            <a:ext cx="45720" cy="749808"/>
          </a:xfrm>
          <a:prstGeom prst="rect">
            <a:avLst/>
          </a:prstGeom>
          <a:solidFill>
            <a:srgbClr val="E86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58200" y="5111496"/>
            <a:ext cx="30175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 spc="140">
                <a:solidFill>
                  <a:srgbClr val="E86A5F"/>
                </a:solidFill>
                <a:latin typeface="Menlo"/>
              </a:rPr>
              <a:t>IF YOU RECONNECT BLIND
</a:t>
            </a:r>
          </a:p>
          <a:p>
            <a:pPr algn="l">
              <a:spcBef>
                <a:spcPts val="200"/>
              </a:spcBef>
            </a:pPr>
            <a:r>
              <a:rPr sz="1500" b="1" i="0">
                <a:solidFill>
                  <a:srgbClr val="FFFFFF"/>
                </a:solidFill>
                <a:latin typeface="Helvetica Neue"/>
              </a:rPr>
              <a:t>wrong person acts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200">
                <a:solidFill>
                  <a:srgbClr val="1E2431"/>
                </a:solidFill>
                <a:latin typeface="Menlo"/>
              </a:rPr>
              <a:t>REVIVE · SEED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235440" y="320040"/>
            <a:ext cx="274320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5000" b="1" i="0">
                <a:solidFill>
                  <a:srgbClr val="E4E7DF"/>
                </a:solidFill>
                <a:latin typeface="Menlo"/>
              </a:rPr>
              <a:t>04</a:t>
            </a:r>
          </a:p>
        </p:txBody>
      </p:sp>
      <p:sp>
        <p:nvSpPr>
          <p:cNvPr id="4" name="Rectangle 3"/>
          <p:cNvSpPr/>
          <p:nvPr/>
        </p:nvSpPr>
        <p:spPr>
          <a:xfrm>
            <a:off x="292608" y="285292"/>
            <a:ext cx="146304" cy="14630"/>
          </a:xfrm>
          <a:prstGeom prst="rect">
            <a:avLst/>
          </a:prstGeom>
          <a:solidFill>
            <a:srgbClr val="C9CE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85292" y="292608"/>
            <a:ext cx="14630" cy="146304"/>
          </a:xfrm>
          <a:prstGeom prst="rect">
            <a:avLst/>
          </a:prstGeom>
          <a:solidFill>
            <a:srgbClr val="C9CE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752783" y="285292"/>
            <a:ext cx="146304" cy="14630"/>
          </a:xfrm>
          <a:prstGeom prst="rect">
            <a:avLst/>
          </a:prstGeom>
          <a:solidFill>
            <a:srgbClr val="C9CE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891772" y="292608"/>
            <a:ext cx="14630" cy="146304"/>
          </a:xfrm>
          <a:prstGeom prst="rect">
            <a:avLst/>
          </a:prstGeom>
          <a:solidFill>
            <a:srgbClr val="C9CE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92608" y="6558076"/>
            <a:ext cx="146304" cy="14630"/>
          </a:xfrm>
          <a:prstGeom prst="rect">
            <a:avLst/>
          </a:prstGeom>
          <a:solidFill>
            <a:srgbClr val="C9CE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85292" y="6419088"/>
            <a:ext cx="14630" cy="146304"/>
          </a:xfrm>
          <a:prstGeom prst="rect">
            <a:avLst/>
          </a:prstGeom>
          <a:solidFill>
            <a:srgbClr val="C9CE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752783" y="6558076"/>
            <a:ext cx="146304" cy="14630"/>
          </a:xfrm>
          <a:prstGeom prst="rect">
            <a:avLst/>
          </a:prstGeom>
          <a:solidFill>
            <a:srgbClr val="C9CE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891772" y="6419088"/>
            <a:ext cx="14630" cy="146304"/>
          </a:xfrm>
          <a:prstGeom prst="rect">
            <a:avLst/>
          </a:prstGeom>
          <a:solidFill>
            <a:srgbClr val="C9CE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777240"/>
            <a:ext cx="8229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 spc="240">
                <a:solidFill>
                  <a:srgbClr val="2E49C8"/>
                </a:solidFill>
                <a:latin typeface="Menlo"/>
              </a:rPr>
              <a:t>THE SOLUTION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118872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151922"/>
                </a:solidFill>
                <a:latin typeface="Helvetica Neue"/>
              </a:rPr>
              <a:t>A safety net under every action.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234440" y="3418027"/>
            <a:ext cx="9692640" cy="21945"/>
          </a:xfrm>
          <a:prstGeom prst="rect">
            <a:avLst/>
          </a:prstGeom>
          <a:solidFill>
            <a:srgbClr val="C9CE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59536" y="3054096"/>
            <a:ext cx="749808" cy="749808"/>
          </a:xfrm>
          <a:prstGeom prst="ellipse">
            <a:avLst/>
          </a:prstGeom>
          <a:solidFill>
            <a:srgbClr val="F4F5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23544" y="3118104"/>
            <a:ext cx="621792" cy="621792"/>
          </a:xfrm>
          <a:prstGeom prst="ellipse">
            <a:avLst/>
          </a:prstGeom>
          <a:solidFill>
            <a:srgbClr val="FBFCF8"/>
          </a:solidFill>
          <a:ln w="19050">
            <a:solidFill>
              <a:srgbClr val="1519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3544" y="3118104"/>
            <a:ext cx="621792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1" i="0">
                <a:solidFill>
                  <a:srgbClr val="151922"/>
                </a:solidFill>
                <a:latin typeface="Menlo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" y="3931920"/>
            <a:ext cx="21031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50" b="1" i="0">
                <a:solidFill>
                  <a:srgbClr val="151922"/>
                </a:solidFill>
                <a:latin typeface="Helvetica Neue"/>
              </a:rPr>
              <a:t>Spot</a:t>
            </a:r>
          </a:p>
          <a:p>
            <a:pPr algn="ctr">
              <a:lnSpc>
                <a:spcPct val="110000"/>
              </a:lnSpc>
              <a:spcBef>
                <a:spcPts val="300"/>
              </a:spcBef>
            </a:pPr>
            <a:r>
              <a:rPr sz="1150" b="0" i="0">
                <a:solidFill>
                  <a:srgbClr val="66707E"/>
                </a:solidFill>
                <a:latin typeface="Helvetica Neue"/>
              </a:rPr>
              <a:t>Know it failed</a:t>
            </a:r>
          </a:p>
        </p:txBody>
      </p:sp>
      <p:sp>
        <p:nvSpPr>
          <p:cNvPr id="19" name="Oval 18"/>
          <p:cNvSpPr/>
          <p:nvPr/>
        </p:nvSpPr>
        <p:spPr>
          <a:xfrm>
            <a:off x="3145536" y="3054096"/>
            <a:ext cx="749808" cy="749808"/>
          </a:xfrm>
          <a:prstGeom prst="ellipse">
            <a:avLst/>
          </a:prstGeom>
          <a:solidFill>
            <a:srgbClr val="F4F5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209544" y="3118104"/>
            <a:ext cx="621792" cy="621792"/>
          </a:xfrm>
          <a:prstGeom prst="ellipse">
            <a:avLst/>
          </a:prstGeom>
          <a:solidFill>
            <a:srgbClr val="FBFCF8"/>
          </a:solidFill>
          <a:ln w="19050">
            <a:solidFill>
              <a:srgbClr val="1519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09544" y="3118104"/>
            <a:ext cx="621792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1" i="0">
                <a:solidFill>
                  <a:srgbClr val="151922"/>
                </a:solidFill>
                <a:latin typeface="Menlo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68880" y="3931920"/>
            <a:ext cx="21031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50" b="1" i="0">
                <a:solidFill>
                  <a:srgbClr val="151922"/>
                </a:solidFill>
                <a:latin typeface="Helvetica Neue"/>
              </a:rPr>
              <a:t>Hold</a:t>
            </a:r>
          </a:p>
          <a:p>
            <a:pPr algn="ctr">
              <a:lnSpc>
                <a:spcPct val="110000"/>
              </a:lnSpc>
              <a:spcBef>
                <a:spcPts val="300"/>
              </a:spcBef>
            </a:pPr>
            <a:r>
              <a:rPr sz="1150" b="0" i="0">
                <a:solidFill>
                  <a:srgbClr val="66707E"/>
                </a:solidFill>
                <a:latin typeface="Helvetica Neue"/>
              </a:rPr>
              <a:t>Freeze safely, lose nothing</a:t>
            </a:r>
          </a:p>
        </p:txBody>
      </p:sp>
      <p:sp>
        <p:nvSpPr>
          <p:cNvPr id="23" name="Oval 22"/>
          <p:cNvSpPr/>
          <p:nvPr/>
        </p:nvSpPr>
        <p:spPr>
          <a:xfrm>
            <a:off x="5431536" y="3054096"/>
            <a:ext cx="749808" cy="749808"/>
          </a:xfrm>
          <a:prstGeom prst="ellipse">
            <a:avLst/>
          </a:prstGeom>
          <a:solidFill>
            <a:srgbClr val="F4F5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495544" y="3118104"/>
            <a:ext cx="621792" cy="621792"/>
          </a:xfrm>
          <a:prstGeom prst="ellipse">
            <a:avLst/>
          </a:prstGeom>
          <a:solidFill>
            <a:srgbClr val="FBFCF8"/>
          </a:solidFill>
          <a:ln w="19050">
            <a:solidFill>
              <a:srgbClr val="1519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95544" y="3118104"/>
            <a:ext cx="621792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1" i="0">
                <a:solidFill>
                  <a:srgbClr val="151922"/>
                </a:solidFill>
                <a:latin typeface="Menlo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54879" y="3931920"/>
            <a:ext cx="21031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50" b="1" i="0">
                <a:solidFill>
                  <a:srgbClr val="151922"/>
                </a:solidFill>
                <a:latin typeface="Helvetica Neue"/>
              </a:rPr>
              <a:t>Verify</a:t>
            </a:r>
          </a:p>
          <a:p>
            <a:pPr algn="ctr">
              <a:lnSpc>
                <a:spcPct val="110000"/>
              </a:lnSpc>
              <a:spcBef>
                <a:spcPts val="300"/>
              </a:spcBef>
            </a:pPr>
            <a:r>
              <a:rPr sz="1150" b="0" i="0">
                <a:solidFill>
                  <a:srgbClr val="66707E"/>
                </a:solidFill>
                <a:latin typeface="Helvetica Neue"/>
              </a:rPr>
              <a:t>Right person reconnects</a:t>
            </a:r>
          </a:p>
        </p:txBody>
      </p:sp>
      <p:sp>
        <p:nvSpPr>
          <p:cNvPr id="27" name="Oval 26"/>
          <p:cNvSpPr/>
          <p:nvPr/>
        </p:nvSpPr>
        <p:spPr>
          <a:xfrm>
            <a:off x="7717536" y="3054096"/>
            <a:ext cx="749808" cy="749808"/>
          </a:xfrm>
          <a:prstGeom prst="ellipse">
            <a:avLst/>
          </a:prstGeom>
          <a:solidFill>
            <a:srgbClr val="F4F5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781544" y="3118104"/>
            <a:ext cx="621792" cy="621792"/>
          </a:xfrm>
          <a:prstGeom prst="ellipse">
            <a:avLst/>
          </a:prstGeom>
          <a:solidFill>
            <a:srgbClr val="FBFCF8"/>
          </a:solidFill>
          <a:ln w="19050">
            <a:solidFill>
              <a:srgbClr val="1519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81544" y="3118104"/>
            <a:ext cx="621792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1" i="0">
                <a:solidFill>
                  <a:srgbClr val="151922"/>
                </a:solidFill>
                <a:latin typeface="Menlo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0879" y="3931920"/>
            <a:ext cx="21031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50" b="1" i="0">
                <a:solidFill>
                  <a:srgbClr val="151922"/>
                </a:solidFill>
                <a:latin typeface="Helvetica Neue"/>
              </a:rPr>
              <a:t>Check</a:t>
            </a:r>
          </a:p>
          <a:p>
            <a:pPr algn="ctr">
              <a:lnSpc>
                <a:spcPct val="110000"/>
              </a:lnSpc>
              <a:spcBef>
                <a:spcPts val="300"/>
              </a:spcBef>
            </a:pPr>
            <a:r>
              <a:rPr sz="1150" b="0" i="0">
                <a:solidFill>
                  <a:srgbClr val="66707E"/>
                </a:solidFill>
                <a:latin typeface="Helvetica Neue"/>
              </a:rPr>
              <a:t>Did it already happen?</a:t>
            </a:r>
          </a:p>
        </p:txBody>
      </p:sp>
      <p:sp>
        <p:nvSpPr>
          <p:cNvPr id="31" name="Oval 30"/>
          <p:cNvSpPr/>
          <p:nvPr/>
        </p:nvSpPr>
        <p:spPr>
          <a:xfrm>
            <a:off x="10003536" y="3054096"/>
            <a:ext cx="749808" cy="749808"/>
          </a:xfrm>
          <a:prstGeom prst="ellipse">
            <a:avLst/>
          </a:prstGeom>
          <a:solidFill>
            <a:srgbClr val="F4F5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067544" y="3118104"/>
            <a:ext cx="621792" cy="621792"/>
          </a:xfrm>
          <a:prstGeom prst="ellipse">
            <a:avLst/>
          </a:prstGeom>
          <a:solidFill>
            <a:srgbClr val="4967F2"/>
          </a:solidFill>
          <a:ln w="19050">
            <a:solidFill>
              <a:srgbClr val="4967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067544" y="3118104"/>
            <a:ext cx="621792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Menlo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26880" y="3931920"/>
            <a:ext cx="21031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50" b="1" i="0">
                <a:solidFill>
                  <a:srgbClr val="2E49C8"/>
                </a:solidFill>
                <a:latin typeface="Helvetica Neue"/>
              </a:rPr>
              <a:t>Continue</a:t>
            </a:r>
          </a:p>
          <a:p>
            <a:pPr algn="ctr">
              <a:lnSpc>
                <a:spcPct val="110000"/>
              </a:lnSpc>
              <a:spcBef>
                <a:spcPts val="300"/>
              </a:spcBef>
            </a:pPr>
            <a:r>
              <a:rPr sz="1150" b="0" i="0">
                <a:solidFill>
                  <a:srgbClr val="66707E"/>
                </a:solidFill>
                <a:latin typeface="Helvetica Neue"/>
              </a:rPr>
              <a:t>Picks up where it left off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 spc="180">
                <a:solidFill>
                  <a:srgbClr val="2E49C8"/>
                </a:solidFill>
                <a:latin typeface="Menlo"/>
              </a:rPr>
              <a:t>ONE LINE OF CODE  </a:t>
            </a:r>
            <a:r>
              <a:rPr sz="1400" b="1" i="0">
                <a:solidFill>
                  <a:srgbClr val="151922"/>
                </a:solidFill>
                <a:latin typeface="Helvetica Neue"/>
              </a:rPr>
              <a:t>Revive owns everything after the failure.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200">
                <a:solidFill>
                  <a:srgbClr val="8A929D"/>
                </a:solidFill>
                <a:latin typeface="Menlo"/>
              </a:rPr>
              <a:t>REVIVE · SEED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92608" y="285292"/>
            <a:ext cx="146304" cy="14630"/>
          </a:xfrm>
          <a:prstGeom prst="rect">
            <a:avLst/>
          </a:prstGeom>
          <a:solidFill>
            <a:srgbClr val="C9CE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85292" y="292608"/>
            <a:ext cx="14630" cy="146304"/>
          </a:xfrm>
          <a:prstGeom prst="rect">
            <a:avLst/>
          </a:prstGeom>
          <a:solidFill>
            <a:srgbClr val="C9CE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752783" y="285292"/>
            <a:ext cx="146304" cy="14630"/>
          </a:xfrm>
          <a:prstGeom prst="rect">
            <a:avLst/>
          </a:prstGeom>
          <a:solidFill>
            <a:srgbClr val="C9CE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891772" y="292608"/>
            <a:ext cx="14630" cy="146304"/>
          </a:xfrm>
          <a:prstGeom prst="rect">
            <a:avLst/>
          </a:prstGeom>
          <a:solidFill>
            <a:srgbClr val="C9CE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92608" y="6558076"/>
            <a:ext cx="146304" cy="14630"/>
          </a:xfrm>
          <a:prstGeom prst="rect">
            <a:avLst/>
          </a:prstGeom>
          <a:solidFill>
            <a:srgbClr val="C9CE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85292" y="6419088"/>
            <a:ext cx="14630" cy="146304"/>
          </a:xfrm>
          <a:prstGeom prst="rect">
            <a:avLst/>
          </a:prstGeom>
          <a:solidFill>
            <a:srgbClr val="C9CE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52783" y="6558076"/>
            <a:ext cx="146304" cy="14630"/>
          </a:xfrm>
          <a:prstGeom prst="rect">
            <a:avLst/>
          </a:prstGeom>
          <a:solidFill>
            <a:srgbClr val="C9CE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891772" y="6419088"/>
            <a:ext cx="14630" cy="146304"/>
          </a:xfrm>
          <a:prstGeom prst="rect">
            <a:avLst/>
          </a:prstGeom>
          <a:solidFill>
            <a:srgbClr val="C9CE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2011680"/>
            <a:ext cx="12191695" cy="4846320"/>
          </a:xfrm>
          <a:prstGeom prst="rect">
            <a:avLst/>
          </a:prstGeom>
          <a:solidFill>
            <a:srgbClr val="1519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777240"/>
            <a:ext cx="8229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 spc="240">
                <a:solidFill>
                  <a:srgbClr val="2E49C8"/>
                </a:solidFill>
                <a:latin typeface="Menlo"/>
              </a:rPr>
              <a:t>PRODUCT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1143000"/>
            <a:ext cx="104241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151922"/>
                </a:solidFill>
                <a:latin typeface="Helvetica Neue"/>
              </a:rPr>
              <a:t>This is what a save looks like.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801368" y="2377440"/>
            <a:ext cx="8595360" cy="40398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801368" y="2377440"/>
            <a:ext cx="8595360" cy="464579"/>
          </a:xfrm>
          <a:prstGeom prst="rect">
            <a:avLst/>
          </a:prstGeom>
          <a:solidFill>
            <a:srgbClr val="1B2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034540" y="2568581"/>
            <a:ext cx="82296" cy="82296"/>
          </a:xfrm>
          <a:prstGeom prst="ellipse">
            <a:avLst/>
          </a:prstGeom>
          <a:solidFill>
            <a:srgbClr val="9AA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235708" y="2568581"/>
            <a:ext cx="82296" cy="82296"/>
          </a:xfrm>
          <a:prstGeom prst="ellipse">
            <a:avLst/>
          </a:prstGeom>
          <a:solidFill>
            <a:srgbClr val="9AA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436876" y="2568581"/>
            <a:ext cx="82296" cy="82296"/>
          </a:xfrm>
          <a:prstGeom prst="ellipse">
            <a:avLst/>
          </a:prstGeom>
          <a:solidFill>
            <a:srgbClr val="9AA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807208" y="2377440"/>
            <a:ext cx="7315200" cy="4645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 spc="120">
                <a:solidFill>
                  <a:srgbClr val="9AA6C8"/>
                </a:solidFill>
                <a:latin typeface="Menlo"/>
              </a:rPr>
              <a:t>REVIVE · CONSOLE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274112" y="3098051"/>
            <a:ext cx="4297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51922"/>
                </a:solidFill>
                <a:latin typeface="Menlo"/>
              </a:rPr>
              <a:t>case_a1b2f9c3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86623" y="3079763"/>
            <a:ext cx="1737360" cy="402336"/>
          </a:xfrm>
          <a:prstGeom prst="roundRect">
            <a:avLst/>
          </a:prstGeom>
          <a:solidFill>
            <a:srgbClr val="E9F4EF"/>
          </a:solidFill>
          <a:ln w="15875">
            <a:solidFill>
              <a:srgbClr val="148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86623" y="3079763"/>
            <a:ext cx="17373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 spc="100">
                <a:solidFill>
                  <a:srgbClr val="148060"/>
                </a:solidFill>
                <a:latin typeface="Menlo"/>
              </a:rPr>
              <a:t>RESUMED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74112" y="3619259"/>
            <a:ext cx="764987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A929D"/>
                </a:solidFill>
                <a:latin typeface="Menlo"/>
              </a:rPr>
              <a:t>Action  </a:t>
            </a:r>
            <a:r>
              <a:rPr sz="1300" b="1" i="0">
                <a:solidFill>
                  <a:srgbClr val="151922"/>
                </a:solidFill>
                <a:latin typeface="Helvetica Neue"/>
              </a:rPr>
              <a:t>charge_customer</a:t>
            </a:r>
            <a:r>
              <a:rPr sz="1300" b="0" i="0">
                <a:solidFill>
                  <a:srgbClr val="66707E"/>
                </a:solidFill>
                <a:latin typeface="Helvetica Neue"/>
              </a:rPr>
              <a:t>   ·   $49.00   ·   Stripe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274112" y="4661675"/>
            <a:ext cx="7649870" cy="20116"/>
          </a:xfrm>
          <a:prstGeom prst="rect">
            <a:avLst/>
          </a:prstGeom>
          <a:solidFill>
            <a:srgbClr val="C9CE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2205532" y="4602239"/>
            <a:ext cx="137160" cy="137160"/>
          </a:xfrm>
          <a:prstGeom prst="ellipse">
            <a:avLst/>
          </a:prstGeom>
          <a:solidFill>
            <a:srgbClr val="496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634032" y="4798835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0" i="0">
                <a:solidFill>
                  <a:srgbClr val="66707E"/>
                </a:solidFill>
                <a:latin typeface="Menlo"/>
              </a:rPr>
              <a:t>Detected</a:t>
            </a:r>
          </a:p>
        </p:txBody>
      </p:sp>
      <p:sp>
        <p:nvSpPr>
          <p:cNvPr id="27" name="Oval 26"/>
          <p:cNvSpPr/>
          <p:nvPr/>
        </p:nvSpPr>
        <p:spPr>
          <a:xfrm>
            <a:off x="4118000" y="4602239"/>
            <a:ext cx="137160" cy="137160"/>
          </a:xfrm>
          <a:prstGeom prst="ellipse">
            <a:avLst/>
          </a:prstGeom>
          <a:solidFill>
            <a:srgbClr val="496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546500" y="4798835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0" i="0">
                <a:solidFill>
                  <a:srgbClr val="66707E"/>
                </a:solidFill>
                <a:latin typeface="Menlo"/>
              </a:rPr>
              <a:t>Parked</a:t>
            </a:r>
          </a:p>
        </p:txBody>
      </p:sp>
      <p:sp>
        <p:nvSpPr>
          <p:cNvPr id="29" name="Oval 28"/>
          <p:cNvSpPr/>
          <p:nvPr/>
        </p:nvSpPr>
        <p:spPr>
          <a:xfrm>
            <a:off x="6030468" y="4602239"/>
            <a:ext cx="137160" cy="137160"/>
          </a:xfrm>
          <a:prstGeom prst="ellipse">
            <a:avLst/>
          </a:prstGeom>
          <a:solidFill>
            <a:srgbClr val="496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58968" y="4798835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0" i="0">
                <a:solidFill>
                  <a:srgbClr val="66707E"/>
                </a:solidFill>
                <a:latin typeface="Menlo"/>
              </a:rPr>
              <a:t>Verified</a:t>
            </a:r>
          </a:p>
        </p:txBody>
      </p:sp>
      <p:sp>
        <p:nvSpPr>
          <p:cNvPr id="31" name="Oval 30"/>
          <p:cNvSpPr/>
          <p:nvPr/>
        </p:nvSpPr>
        <p:spPr>
          <a:xfrm>
            <a:off x="7942935" y="4602239"/>
            <a:ext cx="137160" cy="137160"/>
          </a:xfrm>
          <a:prstGeom prst="ellipse">
            <a:avLst/>
          </a:prstGeom>
          <a:solidFill>
            <a:srgbClr val="496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71435" y="4798835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0" i="0">
                <a:solidFill>
                  <a:srgbClr val="66707E"/>
                </a:solidFill>
                <a:latin typeface="Menlo"/>
              </a:rPr>
              <a:t>Checked</a:t>
            </a:r>
          </a:p>
        </p:txBody>
      </p:sp>
      <p:sp>
        <p:nvSpPr>
          <p:cNvPr id="33" name="Oval 32"/>
          <p:cNvSpPr/>
          <p:nvPr/>
        </p:nvSpPr>
        <p:spPr>
          <a:xfrm>
            <a:off x="9855403" y="4602239"/>
            <a:ext cx="137160" cy="137160"/>
          </a:xfrm>
          <a:prstGeom prst="ellipse">
            <a:avLst/>
          </a:prstGeom>
          <a:solidFill>
            <a:srgbClr val="148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283903" y="4798835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51922"/>
                </a:solidFill>
                <a:latin typeface="Menlo"/>
              </a:rPr>
              <a:t>Resumed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274112" y="5356619"/>
            <a:ext cx="7649870" cy="658368"/>
          </a:xfrm>
          <a:prstGeom prst="rect">
            <a:avLst/>
          </a:prstGeom>
          <a:solidFill>
            <a:srgbClr val="E9F4EF"/>
          </a:solidFill>
          <a:ln w="15875">
            <a:solidFill>
              <a:srgbClr val="148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502712" y="5356619"/>
            <a:ext cx="728411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48060"/>
                </a:solidFill>
                <a:latin typeface="Helvetica Neue"/>
              </a:rPr>
              <a:t>✓  </a:t>
            </a:r>
            <a:r>
              <a:rPr sz="1300" b="1" i="0">
                <a:solidFill>
                  <a:srgbClr val="151922"/>
                </a:solidFill>
                <a:latin typeface="Helvetica Neue"/>
              </a:rPr>
              <a:t>Charge already went through. Revive did </a:t>
            </a:r>
            <a:r>
              <a:rPr sz="1300" b="1" i="0">
                <a:solidFill>
                  <a:srgbClr val="148060"/>
                </a:solidFill>
                <a:latin typeface="Helvetica Neue"/>
              </a:rPr>
              <a:t>not</a:t>
            </a:r>
            <a:r>
              <a:rPr sz="1300" b="1" i="0">
                <a:solidFill>
                  <a:srgbClr val="151922"/>
                </a:solidFill>
                <a:latin typeface="Helvetica Neue"/>
              </a:rPr>
              <a:t> run it again.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235440" y="320040"/>
            <a:ext cx="274320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5000" b="1" i="0">
                <a:solidFill>
                  <a:srgbClr val="E4E7DF"/>
                </a:solidFill>
                <a:latin typeface="Menlo"/>
              </a:rPr>
              <a:t>06</a:t>
            </a:r>
          </a:p>
        </p:txBody>
      </p:sp>
      <p:sp>
        <p:nvSpPr>
          <p:cNvPr id="4" name="Rectangle 3"/>
          <p:cNvSpPr/>
          <p:nvPr/>
        </p:nvSpPr>
        <p:spPr>
          <a:xfrm>
            <a:off x="292608" y="285292"/>
            <a:ext cx="146304" cy="14630"/>
          </a:xfrm>
          <a:prstGeom prst="rect">
            <a:avLst/>
          </a:prstGeom>
          <a:solidFill>
            <a:srgbClr val="C9CE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85292" y="292608"/>
            <a:ext cx="14630" cy="146304"/>
          </a:xfrm>
          <a:prstGeom prst="rect">
            <a:avLst/>
          </a:prstGeom>
          <a:solidFill>
            <a:srgbClr val="C9CE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752783" y="285292"/>
            <a:ext cx="146304" cy="14630"/>
          </a:xfrm>
          <a:prstGeom prst="rect">
            <a:avLst/>
          </a:prstGeom>
          <a:solidFill>
            <a:srgbClr val="C9CE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891772" y="292608"/>
            <a:ext cx="14630" cy="146304"/>
          </a:xfrm>
          <a:prstGeom prst="rect">
            <a:avLst/>
          </a:prstGeom>
          <a:solidFill>
            <a:srgbClr val="C9CE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92608" y="6558076"/>
            <a:ext cx="146304" cy="14630"/>
          </a:xfrm>
          <a:prstGeom prst="rect">
            <a:avLst/>
          </a:prstGeom>
          <a:solidFill>
            <a:srgbClr val="C9CE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85292" y="6419088"/>
            <a:ext cx="14630" cy="146304"/>
          </a:xfrm>
          <a:prstGeom prst="rect">
            <a:avLst/>
          </a:prstGeom>
          <a:solidFill>
            <a:srgbClr val="C9CE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752783" y="6558076"/>
            <a:ext cx="146304" cy="14630"/>
          </a:xfrm>
          <a:prstGeom prst="rect">
            <a:avLst/>
          </a:prstGeom>
          <a:solidFill>
            <a:srgbClr val="C9CE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891772" y="6419088"/>
            <a:ext cx="14630" cy="146304"/>
          </a:xfrm>
          <a:prstGeom prst="rect">
            <a:avLst/>
          </a:prstGeom>
          <a:solidFill>
            <a:srgbClr val="C9CE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868680"/>
            <a:ext cx="8229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 spc="240">
                <a:solidFill>
                  <a:srgbClr val="2E49C8"/>
                </a:solidFill>
                <a:latin typeface="Menlo"/>
              </a:rPr>
              <a:t>WHY ONLY US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1554480"/>
            <a:ext cx="1078992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5200" b="1" i="0">
                <a:solidFill>
                  <a:srgbClr val="66707E"/>
                </a:solidFill>
                <a:latin typeface="Helvetica Neue"/>
              </a:rPr>
              <a:t>Anyone can retry.
</a:t>
            </a:r>
            <a:r>
              <a:rPr sz="5200" b="1" i="0">
                <a:solidFill>
                  <a:srgbClr val="151922"/>
                </a:solidFill>
                <a:latin typeface="Helvetica Neue"/>
              </a:rPr>
              <a:t>Only we know if it
already happened.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1248" y="4617720"/>
            <a:ext cx="2377440" cy="41148"/>
          </a:xfrm>
          <a:prstGeom prst="rect">
            <a:avLst/>
          </a:prstGeom>
          <a:solidFill>
            <a:srgbClr val="496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4983480"/>
            <a:ext cx="338328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50" b="1" i="0">
                <a:solidFill>
                  <a:srgbClr val="151922"/>
                </a:solidFill>
                <a:latin typeface="Helvetica Neue"/>
              </a:rPr>
              <a:t>We ask the source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150" b="0" i="0">
                <a:solidFill>
                  <a:srgbClr val="66707E"/>
                </a:solidFill>
                <a:latin typeface="Helvetica Neue"/>
              </a:rPr>
              <a:t>We check the real system before anything runs again.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34840" y="4983480"/>
            <a:ext cx="338328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50" b="1" i="0">
                <a:solidFill>
                  <a:srgbClr val="151922"/>
                </a:solidFill>
                <a:latin typeface="Helvetica Neue"/>
              </a:rPr>
              <a:t>The right human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150" b="0" i="0">
                <a:solidFill>
                  <a:srgbClr val="66707E"/>
                </a:solidFill>
                <a:latin typeface="Helvetica Neue"/>
              </a:rPr>
              <a:t>Same person proven back before the agent gets new keys.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4983480"/>
            <a:ext cx="338328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50" b="1" i="0">
                <a:solidFill>
                  <a:srgbClr val="151922"/>
                </a:solidFill>
                <a:latin typeface="Helvetica Neue"/>
              </a:rPr>
              <a:t>We never hold keys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150" b="0" i="0">
                <a:solidFill>
                  <a:srgbClr val="66707E"/>
                </a:solidFill>
                <a:latin typeface="Helvetica Neue"/>
              </a:rPr>
              <a:t>Logins stay in your vault. We store nothing.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200">
                <a:solidFill>
                  <a:srgbClr val="8A929D"/>
                </a:solidFill>
                <a:latin typeface="Menlo"/>
              </a:rPr>
              <a:t>REVIVE · SEED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235440" y="320040"/>
            <a:ext cx="274320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5000" b="1" i="0">
                <a:solidFill>
                  <a:srgbClr val="E4E7DF"/>
                </a:solidFill>
                <a:latin typeface="Menlo"/>
              </a:rPr>
              <a:t>07</a:t>
            </a:r>
          </a:p>
        </p:txBody>
      </p:sp>
      <p:sp>
        <p:nvSpPr>
          <p:cNvPr id="4" name="Rectangle 3"/>
          <p:cNvSpPr/>
          <p:nvPr/>
        </p:nvSpPr>
        <p:spPr>
          <a:xfrm>
            <a:off x="292608" y="285292"/>
            <a:ext cx="146304" cy="14630"/>
          </a:xfrm>
          <a:prstGeom prst="rect">
            <a:avLst/>
          </a:prstGeom>
          <a:solidFill>
            <a:srgbClr val="C9CE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85292" y="292608"/>
            <a:ext cx="14630" cy="146304"/>
          </a:xfrm>
          <a:prstGeom prst="rect">
            <a:avLst/>
          </a:prstGeom>
          <a:solidFill>
            <a:srgbClr val="C9CE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752783" y="285292"/>
            <a:ext cx="146304" cy="14630"/>
          </a:xfrm>
          <a:prstGeom prst="rect">
            <a:avLst/>
          </a:prstGeom>
          <a:solidFill>
            <a:srgbClr val="C9CE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891772" y="292608"/>
            <a:ext cx="14630" cy="146304"/>
          </a:xfrm>
          <a:prstGeom prst="rect">
            <a:avLst/>
          </a:prstGeom>
          <a:solidFill>
            <a:srgbClr val="C9CE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92608" y="6558076"/>
            <a:ext cx="146304" cy="14630"/>
          </a:xfrm>
          <a:prstGeom prst="rect">
            <a:avLst/>
          </a:prstGeom>
          <a:solidFill>
            <a:srgbClr val="C9CE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85292" y="6419088"/>
            <a:ext cx="14630" cy="146304"/>
          </a:xfrm>
          <a:prstGeom prst="rect">
            <a:avLst/>
          </a:prstGeom>
          <a:solidFill>
            <a:srgbClr val="C9CE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752783" y="6558076"/>
            <a:ext cx="146304" cy="14630"/>
          </a:xfrm>
          <a:prstGeom prst="rect">
            <a:avLst/>
          </a:prstGeom>
          <a:solidFill>
            <a:srgbClr val="C9CE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891772" y="6419088"/>
            <a:ext cx="14630" cy="146304"/>
          </a:xfrm>
          <a:prstGeom prst="rect">
            <a:avLst/>
          </a:prstGeom>
          <a:solidFill>
            <a:srgbClr val="C9CE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777240"/>
            <a:ext cx="8229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 spc="240">
                <a:solidFill>
                  <a:srgbClr val="2E49C8"/>
                </a:solidFill>
                <a:latin typeface="Menlo"/>
              </a:rPr>
              <a:t>COMPETITION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1188720"/>
            <a:ext cx="1060704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151922"/>
                </a:solidFill>
                <a:latin typeface="Helvetica Neue"/>
              </a:rPr>
              <a:t>Everyone owns one piece.
Nobody owns the recovery.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3749039"/>
            <a:ext cx="3749039" cy="1554480"/>
          </a:xfrm>
          <a:prstGeom prst="rect">
            <a:avLst/>
          </a:prstGeom>
          <a:solidFill>
            <a:srgbClr val="EEF0EB"/>
          </a:solidFill>
          <a:ln w="12700">
            <a:solidFill>
              <a:srgbClr val="C9CE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977639"/>
            <a:ext cx="37490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 spc="140">
                <a:solidFill>
                  <a:srgbClr val="8A929D"/>
                </a:solidFill>
                <a:latin typeface="Menlo"/>
              </a:rPr>
              <a:t>RUNS THE AGENTS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3749039"/>
            <a:ext cx="3749039" cy="1554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151922"/>
                </a:solidFill>
                <a:latin typeface="Helvetica Neue"/>
              </a:rPr>
              <a:t>Temporal · LangGraph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16952" y="3749039"/>
            <a:ext cx="3749039" cy="1554480"/>
          </a:xfrm>
          <a:prstGeom prst="rect">
            <a:avLst/>
          </a:prstGeom>
          <a:solidFill>
            <a:srgbClr val="EEF0EB"/>
          </a:solidFill>
          <a:ln w="12700">
            <a:solidFill>
              <a:srgbClr val="C9CE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16952" y="3977639"/>
            <a:ext cx="37490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 spc="140">
                <a:solidFill>
                  <a:srgbClr val="8A929D"/>
                </a:solidFill>
                <a:latin typeface="Menlo"/>
              </a:rPr>
              <a:t>LOGS THEM 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16952" y="3749039"/>
            <a:ext cx="3749039" cy="1554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151922"/>
                </a:solidFill>
                <a:latin typeface="Helvetica Neue"/>
              </a:rPr>
              <a:t>Nango · Auth0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4919472"/>
            <a:ext cx="30449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8A929D"/>
                </a:solidFill>
                <a:latin typeface="Menlo"/>
              </a:rPr>
              <a:t>· · · the gap · · ·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33088" y="3127247"/>
            <a:ext cx="4069080" cy="1234440"/>
          </a:xfrm>
          <a:prstGeom prst="rect">
            <a:avLst/>
          </a:prstGeom>
          <a:solidFill>
            <a:srgbClr val="D9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069080" y="3063239"/>
            <a:ext cx="4069080" cy="1234440"/>
          </a:xfrm>
          <a:prstGeom prst="rect">
            <a:avLst/>
          </a:prstGeom>
          <a:solidFill>
            <a:srgbClr val="1519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069080" y="3063239"/>
            <a:ext cx="4069080" cy="12344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0" spc="220">
                <a:solidFill>
                  <a:srgbClr val="8EA0FF"/>
                </a:solidFill>
                <a:latin typeface="Menlo"/>
              </a:rPr>
              <a:t>REVIVE</a:t>
            </a:r>
          </a:p>
          <a:p>
            <a:pPr algn="ctr">
              <a:spcBef>
                <a:spcPts val="500"/>
              </a:spcBef>
            </a:pPr>
            <a:r>
              <a:rPr sz="1500" b="1" i="0">
                <a:solidFill>
                  <a:srgbClr val="FFFFFF"/>
                </a:solidFill>
                <a:latin typeface="Helvetica Neue"/>
              </a:rPr>
              <a:t>the bridge between them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576072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 i="0">
                <a:solidFill>
                  <a:srgbClr val="151922"/>
                </a:solidFill>
                <a:latin typeface="Helvetica Neue"/>
              </a:rPr>
              <a:t>These two sides don't talk to each other. </a:t>
            </a:r>
            <a:r>
              <a:rPr sz="1350" b="0" i="0">
                <a:solidFill>
                  <a:srgbClr val="66707E"/>
                </a:solidFill>
                <a:latin typeface="Helvetica Neue"/>
              </a:rPr>
              <a:t>Teams hand-roll half-fixes today. Revive is the real one.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200">
                <a:solidFill>
                  <a:srgbClr val="8A929D"/>
                </a:solidFill>
                <a:latin typeface="Menlo"/>
              </a:rPr>
              <a:t>REVIVE · SEED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235440" y="320040"/>
            <a:ext cx="274320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5000" b="1" i="0">
                <a:solidFill>
                  <a:srgbClr val="E4E7DF"/>
                </a:solidFill>
                <a:latin typeface="Menlo"/>
              </a:rPr>
              <a:t>08</a:t>
            </a:r>
          </a:p>
        </p:txBody>
      </p:sp>
      <p:sp>
        <p:nvSpPr>
          <p:cNvPr id="4" name="Rectangle 3"/>
          <p:cNvSpPr/>
          <p:nvPr/>
        </p:nvSpPr>
        <p:spPr>
          <a:xfrm>
            <a:off x="292608" y="285292"/>
            <a:ext cx="146304" cy="14630"/>
          </a:xfrm>
          <a:prstGeom prst="rect">
            <a:avLst/>
          </a:prstGeom>
          <a:solidFill>
            <a:srgbClr val="C9CE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85292" y="292608"/>
            <a:ext cx="14630" cy="146304"/>
          </a:xfrm>
          <a:prstGeom prst="rect">
            <a:avLst/>
          </a:prstGeom>
          <a:solidFill>
            <a:srgbClr val="C9CE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752783" y="285292"/>
            <a:ext cx="146304" cy="14630"/>
          </a:xfrm>
          <a:prstGeom prst="rect">
            <a:avLst/>
          </a:prstGeom>
          <a:solidFill>
            <a:srgbClr val="C9CE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891772" y="292608"/>
            <a:ext cx="14630" cy="146304"/>
          </a:xfrm>
          <a:prstGeom prst="rect">
            <a:avLst/>
          </a:prstGeom>
          <a:solidFill>
            <a:srgbClr val="C9CE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92608" y="6558076"/>
            <a:ext cx="146304" cy="14630"/>
          </a:xfrm>
          <a:prstGeom prst="rect">
            <a:avLst/>
          </a:prstGeom>
          <a:solidFill>
            <a:srgbClr val="C9CE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85292" y="6419088"/>
            <a:ext cx="14630" cy="146304"/>
          </a:xfrm>
          <a:prstGeom prst="rect">
            <a:avLst/>
          </a:prstGeom>
          <a:solidFill>
            <a:srgbClr val="C9CE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752783" y="6558076"/>
            <a:ext cx="146304" cy="14630"/>
          </a:xfrm>
          <a:prstGeom prst="rect">
            <a:avLst/>
          </a:prstGeom>
          <a:solidFill>
            <a:srgbClr val="C9CE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891772" y="6419088"/>
            <a:ext cx="14630" cy="146304"/>
          </a:xfrm>
          <a:prstGeom prst="rect">
            <a:avLst/>
          </a:prstGeom>
          <a:solidFill>
            <a:srgbClr val="C9CE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777240"/>
            <a:ext cx="8229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 spc="240">
                <a:solidFill>
                  <a:srgbClr val="2E49C8"/>
                </a:solidFill>
                <a:latin typeface="Menlo"/>
              </a:rPr>
              <a:t>MARKET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118872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151922"/>
                </a:solidFill>
                <a:latin typeface="Helvetica Neue"/>
              </a:rPr>
              <a:t>Bottom-up, and it grows </a:t>
            </a:r>
            <a:r>
              <a:rPr sz="3200" b="1" i="0">
                <a:solidFill>
                  <a:srgbClr val="2E49C8"/>
                </a:solidFill>
                <a:latin typeface="Helvetica Neue"/>
              </a:rPr>
              <a:t>tenfold</a:t>
            </a:r>
            <a:r>
              <a:rPr sz="3200" b="1" i="0">
                <a:solidFill>
                  <a:srgbClr val="151922"/>
                </a:solidFill>
                <a:latin typeface="Helvetica Neue"/>
              </a:rPr>
              <a:t> on its own.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68680" y="2377439"/>
            <a:ext cx="3794760" cy="3794760"/>
          </a:xfrm>
          <a:prstGeom prst="rect">
            <a:avLst/>
          </a:prstGeom>
          <a:solidFill>
            <a:srgbClr val="FBFCF8"/>
          </a:solidFill>
          <a:ln w="15875">
            <a:solidFill>
              <a:srgbClr val="C9CE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68680" y="3703320"/>
            <a:ext cx="2468880" cy="2468880"/>
          </a:xfrm>
          <a:prstGeom prst="rect">
            <a:avLst/>
          </a:prstGeom>
          <a:solidFill>
            <a:srgbClr val="EDF0FF"/>
          </a:solidFill>
          <a:ln w="15875">
            <a:solidFill>
              <a:srgbClr val="4967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68680" y="4937760"/>
            <a:ext cx="1234440" cy="1234440"/>
          </a:xfrm>
          <a:prstGeom prst="rect">
            <a:avLst/>
          </a:prstGeom>
          <a:solidFill>
            <a:srgbClr val="151922"/>
          </a:solidFill>
          <a:ln w="15875">
            <a:solidFill>
              <a:srgbClr val="1519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33271" y="2487168"/>
            <a:ext cx="1463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 spc="80">
                <a:solidFill>
                  <a:srgbClr val="66707E"/>
                </a:solidFill>
                <a:latin typeface="Menlo"/>
              </a:rPr>
              <a:t>TAM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1" y="3794759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 spc="80">
                <a:solidFill>
                  <a:srgbClr val="2E49C8"/>
                </a:solidFill>
                <a:latin typeface="Menlo"/>
              </a:rPr>
              <a:t>SAM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937760"/>
            <a:ext cx="1234440" cy="12344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 spc="80">
                <a:solidFill>
                  <a:srgbClr val="FFFFFF"/>
                </a:solidFill>
                <a:latin typeface="Menlo"/>
              </a:rPr>
              <a:t>SOM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846320" y="2843784"/>
            <a:ext cx="914400" cy="16459"/>
          </a:xfrm>
          <a:prstGeom prst="rect">
            <a:avLst/>
          </a:prstGeom>
          <a:solidFill>
            <a:srgbClr val="C9CE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0" y="2441448"/>
            <a:ext cx="60350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151922"/>
                </a:solidFill>
                <a:latin typeface="Helvetica Neue"/>
              </a:rPr>
              <a:t>$5B+   </a:t>
            </a:r>
          </a:p>
          <a:p>
            <a:pPr algn="l">
              <a:spcBef>
                <a:spcPts val="200"/>
              </a:spcBef>
            </a:pPr>
            <a:r>
              <a:rPr sz="1350" b="1" i="0">
                <a:solidFill>
                  <a:srgbClr val="151922"/>
                </a:solidFill>
                <a:latin typeface="Helvetica Neue"/>
              </a:rPr>
              <a:t>Every team running production agents  </a:t>
            </a:r>
            <a:r>
              <a:rPr sz="1100" b="0" i="0">
                <a:solidFill>
                  <a:srgbClr val="8A929D"/>
                </a:solidFill>
                <a:latin typeface="Menlo"/>
              </a:rPr>
              <a:t>2M teams by 2030 × ~$2.5k/yr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46320" y="4306824"/>
            <a:ext cx="914400" cy="16459"/>
          </a:xfrm>
          <a:prstGeom prst="rect">
            <a:avLst/>
          </a:prstGeom>
          <a:solidFill>
            <a:srgbClr val="C9CE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0" y="3904487"/>
            <a:ext cx="60350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2E49C8"/>
                </a:solidFill>
                <a:latin typeface="Helvetica Neue"/>
              </a:rPr>
              <a:t>$100M → $1B+   </a:t>
            </a:r>
          </a:p>
          <a:p>
            <a:pPr algn="l">
              <a:spcBef>
                <a:spcPts val="200"/>
              </a:spcBef>
            </a:pPr>
            <a:r>
              <a:rPr sz="1350" b="1" i="0">
                <a:solidFill>
                  <a:srgbClr val="151922"/>
                </a:solidFill>
                <a:latin typeface="Helvetica Neue"/>
              </a:rPr>
              <a:t>Agents touching email, money, CRM  </a:t>
            </a:r>
            <a:r>
              <a:rPr sz="1100" b="0" i="0">
                <a:solidFill>
                  <a:srgbClr val="8A929D"/>
                </a:solidFill>
                <a:latin typeface="Menlo"/>
              </a:rPr>
              <a:t>50k teams today × ~$2k/yr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846320" y="5404104"/>
            <a:ext cx="914400" cy="16459"/>
          </a:xfrm>
          <a:prstGeom prst="rect">
            <a:avLst/>
          </a:prstGeom>
          <a:solidFill>
            <a:srgbClr val="C9CE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0" y="5001768"/>
            <a:ext cx="60350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2E49C8"/>
                </a:solidFill>
                <a:latin typeface="Helvetica Neue"/>
              </a:rPr>
              <a:t>$5M ARR   </a:t>
            </a:r>
          </a:p>
          <a:p>
            <a:pPr algn="l">
              <a:spcBef>
                <a:spcPts val="200"/>
              </a:spcBef>
            </a:pPr>
            <a:r>
              <a:rPr sz="1350" b="1" i="0">
                <a:solidFill>
                  <a:srgbClr val="151922"/>
                </a:solidFill>
                <a:latin typeface="Helvetica Neue"/>
              </a:rPr>
              <a:t>Our 3-year capture  </a:t>
            </a:r>
            <a:r>
              <a:rPr sz="1100" b="0" i="0">
                <a:solidFill>
                  <a:srgbClr val="8A929D"/>
                </a:solidFill>
                <a:latin typeface="Menlo"/>
              </a:rPr>
              <a:t>2.5k teams × ~$2k/yr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0" y="5897880"/>
            <a:ext cx="5486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66707E"/>
                </a:solidFill>
                <a:latin typeface="Helvetica Neue"/>
              </a:rPr>
              <a:t>Gartner puts agents in a third of enterprise software by 2028. </a:t>
            </a:r>
            <a:r>
              <a:rPr sz="1200" b="1" i="0">
                <a:solidFill>
                  <a:srgbClr val="151922"/>
                </a:solidFill>
                <a:latin typeface="Helvetica Neue"/>
              </a:rPr>
              <a:t>Every new acting agent lands in our SAM.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200">
                <a:solidFill>
                  <a:srgbClr val="8A929D"/>
                </a:solidFill>
                <a:latin typeface="Menlo"/>
              </a:rPr>
              <a:t>REVIVE · SEED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235440" y="320040"/>
            <a:ext cx="274320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5000" b="1" i="0">
                <a:solidFill>
                  <a:srgbClr val="E4E7DF"/>
                </a:solidFill>
                <a:latin typeface="Menlo"/>
              </a:rPr>
              <a:t>09</a:t>
            </a:r>
          </a:p>
        </p:txBody>
      </p:sp>
      <p:sp>
        <p:nvSpPr>
          <p:cNvPr id="4" name="Rectangle 3"/>
          <p:cNvSpPr/>
          <p:nvPr/>
        </p:nvSpPr>
        <p:spPr>
          <a:xfrm>
            <a:off x="292608" y="285292"/>
            <a:ext cx="146304" cy="14630"/>
          </a:xfrm>
          <a:prstGeom prst="rect">
            <a:avLst/>
          </a:prstGeom>
          <a:solidFill>
            <a:srgbClr val="C9CE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85292" y="292608"/>
            <a:ext cx="14630" cy="146304"/>
          </a:xfrm>
          <a:prstGeom prst="rect">
            <a:avLst/>
          </a:prstGeom>
          <a:solidFill>
            <a:srgbClr val="C9CE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752783" y="285292"/>
            <a:ext cx="146304" cy="14630"/>
          </a:xfrm>
          <a:prstGeom prst="rect">
            <a:avLst/>
          </a:prstGeom>
          <a:solidFill>
            <a:srgbClr val="C9CE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891772" y="292608"/>
            <a:ext cx="14630" cy="146304"/>
          </a:xfrm>
          <a:prstGeom prst="rect">
            <a:avLst/>
          </a:prstGeom>
          <a:solidFill>
            <a:srgbClr val="C9CE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92608" y="6558076"/>
            <a:ext cx="146304" cy="14630"/>
          </a:xfrm>
          <a:prstGeom prst="rect">
            <a:avLst/>
          </a:prstGeom>
          <a:solidFill>
            <a:srgbClr val="C9CE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85292" y="6419088"/>
            <a:ext cx="14630" cy="146304"/>
          </a:xfrm>
          <a:prstGeom prst="rect">
            <a:avLst/>
          </a:prstGeom>
          <a:solidFill>
            <a:srgbClr val="C9CE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752783" y="6558076"/>
            <a:ext cx="146304" cy="14630"/>
          </a:xfrm>
          <a:prstGeom prst="rect">
            <a:avLst/>
          </a:prstGeom>
          <a:solidFill>
            <a:srgbClr val="C9CE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891772" y="6419088"/>
            <a:ext cx="14630" cy="146304"/>
          </a:xfrm>
          <a:prstGeom prst="rect">
            <a:avLst/>
          </a:prstGeom>
          <a:solidFill>
            <a:srgbClr val="C9CE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777240"/>
            <a:ext cx="8229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 spc="240">
                <a:solidFill>
                  <a:srgbClr val="2E49C8"/>
                </a:solidFill>
                <a:latin typeface="Menlo"/>
              </a:rPr>
              <a:t>BUSINESS MODEL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1188720"/>
            <a:ext cx="104241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151922"/>
                </a:solidFill>
                <a:latin typeface="Helvetica Neue"/>
              </a:rPr>
              <a:t>We get paid every time we save one.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120" y="2359152"/>
            <a:ext cx="3566160" cy="3291840"/>
          </a:xfrm>
          <a:prstGeom prst="rect">
            <a:avLst/>
          </a:prstGeom>
          <a:solidFill>
            <a:srgbClr val="D9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15968" y="2286000"/>
            <a:ext cx="3566160" cy="3291840"/>
          </a:xfrm>
          <a:prstGeom prst="rect">
            <a:avLst/>
          </a:prstGeom>
          <a:solidFill>
            <a:srgbClr val="1519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81728" y="2651760"/>
            <a:ext cx="29260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 spc="240">
                <a:solidFill>
                  <a:srgbClr val="8EA0FF"/>
                </a:solidFill>
                <a:latin typeface="Menlo"/>
              </a:rPr>
              <a:t>TEAM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36007" y="3063240"/>
            <a:ext cx="292608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600" b="1" i="0">
                <a:solidFill>
                  <a:srgbClr val="FFFFFF"/>
                </a:solidFill>
                <a:latin typeface="Helvetica Neue"/>
              </a:rPr>
              <a:t>$99</a:t>
            </a:r>
            <a:r>
              <a:rPr sz="1800" b="0" i="0">
                <a:solidFill>
                  <a:srgbClr val="9AA6C8"/>
                </a:solidFill>
                <a:latin typeface="Helvetica Neue"/>
              </a:rPr>
              <a:t> /mo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81728" y="4434840"/>
            <a:ext cx="28803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FFFFFF"/>
                </a:solidFill>
                <a:latin typeface="Helvetica Neue"/>
              </a:rPr>
              <a:t>The landing plan.
</a:t>
            </a:r>
            <a:r>
              <a:rPr sz="1200" b="0" i="0">
                <a:solidFill>
                  <a:srgbClr val="9AA6C8"/>
                </a:solidFill>
                <a:latin typeface="Helvetica Neue"/>
              </a:rPr>
              <a:t>25 connections · 10k saves a month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51560" y="2880360"/>
            <a:ext cx="2651760" cy="2103120"/>
          </a:xfrm>
          <a:prstGeom prst="rect">
            <a:avLst/>
          </a:prstGeom>
          <a:solidFill>
            <a:srgbClr val="FBFCF8"/>
          </a:solidFill>
          <a:ln w="12700">
            <a:solidFill>
              <a:srgbClr val="C9CE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25880" y="3154680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 spc="240">
                <a:solidFill>
                  <a:srgbClr val="66707E"/>
                </a:solidFill>
                <a:latin typeface="Menlo"/>
              </a:rPr>
              <a:t>DEV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7592" y="3520440"/>
            <a:ext cx="21945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151922"/>
                </a:solidFill>
                <a:latin typeface="Helvetica Neue"/>
              </a:rPr>
              <a:t>$20 /mo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25880" y="4297680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8A929D"/>
                </a:solidFill>
                <a:latin typeface="Menlo"/>
              </a:rPr>
              <a:t>first workflow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549640" y="2880360"/>
            <a:ext cx="2651760" cy="2103120"/>
          </a:xfrm>
          <a:prstGeom prst="rect">
            <a:avLst/>
          </a:prstGeom>
          <a:solidFill>
            <a:srgbClr val="FBFCF8"/>
          </a:solidFill>
          <a:ln w="12700">
            <a:solidFill>
              <a:srgbClr val="C9CE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823960" y="3154680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 spc="240">
                <a:solidFill>
                  <a:srgbClr val="66707E"/>
                </a:solidFill>
                <a:latin typeface="Menlo"/>
              </a:rPr>
              <a:t>ENTERPRISE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05672" y="3520440"/>
            <a:ext cx="21945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151922"/>
                </a:solidFill>
                <a:latin typeface="Helvetica Neue"/>
              </a:rPr>
              <a:t>Custom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23960" y="4297680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8A929D"/>
                </a:solidFill>
                <a:latin typeface="Menlo"/>
              </a:rPr>
              <a:t>where margin lives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594360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66707E"/>
                </a:solidFill>
                <a:latin typeface="Helvetica Neue"/>
              </a:rPr>
              <a:t>More agents means more saves means a bigger plan. Upgrades happen on their own. Software margins.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200">
                <a:solidFill>
                  <a:srgbClr val="8A929D"/>
                </a:solidFill>
                <a:latin typeface="Menlo"/>
              </a:rPr>
              <a:t>REVIVE · SEED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235440" y="320040"/>
            <a:ext cx="274320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5000" b="1" i="0">
                <a:solidFill>
                  <a:srgbClr val="E4E7DF"/>
                </a:solidFill>
                <a:latin typeface="Menlo"/>
              </a:rPr>
              <a:t>10</a:t>
            </a:r>
          </a:p>
        </p:txBody>
      </p:sp>
      <p:sp>
        <p:nvSpPr>
          <p:cNvPr id="4" name="Rectangle 3"/>
          <p:cNvSpPr/>
          <p:nvPr/>
        </p:nvSpPr>
        <p:spPr>
          <a:xfrm>
            <a:off x="292608" y="285292"/>
            <a:ext cx="146304" cy="14630"/>
          </a:xfrm>
          <a:prstGeom prst="rect">
            <a:avLst/>
          </a:prstGeom>
          <a:solidFill>
            <a:srgbClr val="C9CE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85292" y="292608"/>
            <a:ext cx="14630" cy="146304"/>
          </a:xfrm>
          <a:prstGeom prst="rect">
            <a:avLst/>
          </a:prstGeom>
          <a:solidFill>
            <a:srgbClr val="C9CE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752783" y="285292"/>
            <a:ext cx="146304" cy="14630"/>
          </a:xfrm>
          <a:prstGeom prst="rect">
            <a:avLst/>
          </a:prstGeom>
          <a:solidFill>
            <a:srgbClr val="C9CE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891772" y="292608"/>
            <a:ext cx="14630" cy="146304"/>
          </a:xfrm>
          <a:prstGeom prst="rect">
            <a:avLst/>
          </a:prstGeom>
          <a:solidFill>
            <a:srgbClr val="C9CE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92608" y="6558076"/>
            <a:ext cx="146304" cy="14630"/>
          </a:xfrm>
          <a:prstGeom prst="rect">
            <a:avLst/>
          </a:prstGeom>
          <a:solidFill>
            <a:srgbClr val="C9CE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85292" y="6419088"/>
            <a:ext cx="14630" cy="146304"/>
          </a:xfrm>
          <a:prstGeom prst="rect">
            <a:avLst/>
          </a:prstGeom>
          <a:solidFill>
            <a:srgbClr val="C9CE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752783" y="6558076"/>
            <a:ext cx="146304" cy="14630"/>
          </a:xfrm>
          <a:prstGeom prst="rect">
            <a:avLst/>
          </a:prstGeom>
          <a:solidFill>
            <a:srgbClr val="C9CE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891772" y="6419088"/>
            <a:ext cx="14630" cy="146304"/>
          </a:xfrm>
          <a:prstGeom prst="rect">
            <a:avLst/>
          </a:prstGeom>
          <a:solidFill>
            <a:srgbClr val="C9CE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777240"/>
            <a:ext cx="8229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 spc="240">
                <a:solidFill>
                  <a:srgbClr val="2E49C8"/>
                </a:solidFill>
                <a:latin typeface="Menlo"/>
              </a:rPr>
              <a:t>GO-TO-MARKET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1188720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151922"/>
                </a:solidFill>
                <a:latin typeface="Helvetica Neue"/>
              </a:rPr>
              <a:t>Land where the builders already are.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1248" y="2569464"/>
            <a:ext cx="41148" cy="868680"/>
          </a:xfrm>
          <a:prstGeom prst="rect">
            <a:avLst/>
          </a:prstGeom>
          <a:solidFill>
            <a:srgbClr val="496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43000" y="2514600"/>
            <a:ext cx="53949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2E49C8"/>
                </a:solidFill>
                <a:latin typeface="Menlo"/>
              </a:rPr>
              <a:t>01   </a:t>
            </a:r>
            <a:r>
              <a:rPr sz="1700" b="1" i="0">
                <a:solidFill>
                  <a:srgbClr val="151922"/>
                </a:solidFill>
                <a:latin typeface="Helvetica Neue"/>
              </a:rPr>
              <a:t>Framework communities</a:t>
            </a:r>
          </a:p>
          <a:p>
            <a:pPr algn="l">
              <a:spcBef>
                <a:spcPts val="400"/>
              </a:spcBef>
            </a:pPr>
            <a:r>
              <a:rPr sz="1250" b="0" i="0">
                <a:solidFill>
                  <a:srgbClr val="66707E"/>
                </a:solidFill>
                <a:latin typeface="Helvetica Neue"/>
              </a:rPr>
              <a:t>devs hit this exact failure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41248" y="3739896"/>
            <a:ext cx="41148" cy="868680"/>
          </a:xfrm>
          <a:prstGeom prst="rect">
            <a:avLst/>
          </a:prstGeom>
          <a:solidFill>
            <a:srgbClr val="496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3685032"/>
            <a:ext cx="53949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2E49C8"/>
                </a:solidFill>
                <a:latin typeface="Menlo"/>
              </a:rPr>
              <a:t>02   </a:t>
            </a:r>
            <a:r>
              <a:rPr sz="1700" b="1" i="0">
                <a:solidFill>
                  <a:srgbClr val="151922"/>
                </a:solidFill>
                <a:latin typeface="Helvetica Neue"/>
              </a:rPr>
              <a:t>Vault partnerships</a:t>
            </a:r>
          </a:p>
          <a:p>
            <a:pPr algn="l">
              <a:spcBef>
                <a:spcPts val="400"/>
              </a:spcBef>
            </a:pPr>
            <a:r>
              <a:rPr sz="1250" b="0" i="0">
                <a:solidFill>
                  <a:srgbClr val="66707E"/>
                </a:solidFill>
                <a:latin typeface="Helvetica Neue"/>
              </a:rPr>
              <a:t>a connection dies, we step in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41248" y="4910328"/>
            <a:ext cx="41148" cy="868680"/>
          </a:xfrm>
          <a:prstGeom prst="rect">
            <a:avLst/>
          </a:prstGeom>
          <a:solidFill>
            <a:srgbClr val="496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3000" y="4855464"/>
            <a:ext cx="53949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2E49C8"/>
                </a:solidFill>
                <a:latin typeface="Menlo"/>
              </a:rPr>
              <a:t>03   </a:t>
            </a:r>
            <a:r>
              <a:rPr sz="1700" b="1" i="0">
                <a:solidFill>
                  <a:srgbClr val="151922"/>
                </a:solidFill>
                <a:latin typeface="Helvetica Neue"/>
              </a:rPr>
              <a:t>Incident inbound</a:t>
            </a:r>
          </a:p>
          <a:p>
            <a:pPr algn="l">
              <a:spcBef>
                <a:spcPts val="400"/>
              </a:spcBef>
            </a:pPr>
            <a:r>
              <a:rPr sz="1250" b="0" i="0">
                <a:solidFill>
                  <a:srgbClr val="66707E"/>
                </a:solidFill>
                <a:latin typeface="Helvetica Neue"/>
              </a:rPr>
              <a:t>every agent mishap brings leads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104888" y="2441448"/>
            <a:ext cx="4297680" cy="3246120"/>
          </a:xfrm>
          <a:prstGeom prst="rect">
            <a:avLst/>
          </a:prstGeom>
          <a:solidFill>
            <a:srgbClr val="D9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040880" y="2377440"/>
            <a:ext cx="4297680" cy="3246120"/>
          </a:xfrm>
          <a:prstGeom prst="rect">
            <a:avLst/>
          </a:prstGeom>
          <a:solidFill>
            <a:srgbClr val="1519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06640" y="2697480"/>
            <a:ext cx="3657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 spc="240">
                <a:solidFill>
                  <a:srgbClr val="8EA0FF"/>
                </a:solidFill>
                <a:latin typeface="Menlo"/>
              </a:rPr>
              <a:t>UNIT ECONOMICS · TARGETS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88352" y="3063240"/>
            <a:ext cx="3602736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1" i="0">
                <a:solidFill>
                  <a:srgbClr val="FFFFFF"/>
                </a:solidFill>
                <a:latin typeface="Helvetica Neue"/>
              </a:rPr>
              <a:t>5 : 1</a:t>
            </a:r>
            <a:r>
              <a:rPr sz="1400" b="0" i="0">
                <a:solidFill>
                  <a:srgbClr val="9AA6C8"/>
                </a:solidFill>
                <a:latin typeface="Helvetica Neue"/>
              </a:rPr>
              <a:t>  LTV to CAC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06640" y="4343400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100">
                <a:solidFill>
                  <a:srgbClr val="8EA0FF"/>
                </a:solidFill>
                <a:latin typeface="Menlo"/>
              </a:rPr>
              <a:t>CAC  </a:t>
            </a:r>
            <a:r>
              <a:rPr sz="1600" b="1" i="0">
                <a:solidFill>
                  <a:srgbClr val="FFFFFF"/>
                </a:solidFill>
                <a:latin typeface="Helvetica Neue"/>
              </a:rPr>
              <a:t>&lt; $500   </a:t>
            </a:r>
            <a:r>
              <a:rPr sz="1100" b="0" i="0">
                <a:solidFill>
                  <a:srgbClr val="9AA6C8"/>
                </a:solidFill>
                <a:latin typeface="Helvetica Neue"/>
              </a:rPr>
              <a:t>community-led, not sales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06640" y="4892040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100">
                <a:solidFill>
                  <a:srgbClr val="8EA0FF"/>
                </a:solidFill>
                <a:latin typeface="Menlo"/>
              </a:rPr>
              <a:t>LTV  </a:t>
            </a:r>
            <a:r>
              <a:rPr sz="1600" b="1" i="0">
                <a:solidFill>
                  <a:srgbClr val="FFFFFF"/>
                </a:solidFill>
                <a:latin typeface="Helvetica Neue"/>
              </a:rPr>
              <a:t>~$2.4k   </a:t>
            </a:r>
            <a:r>
              <a:rPr sz="1100" b="0" i="0">
                <a:solidFill>
                  <a:srgbClr val="9AA6C8"/>
                </a:solidFill>
                <a:latin typeface="Helvetica Neue"/>
              </a:rPr>
              <a:t>Team plan, 2-year retention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60350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 spc="160">
                <a:solidFill>
                  <a:srgbClr val="2E49C8"/>
                </a:solidFill>
                <a:latin typeface="Menlo"/>
              </a:rPr>
              <a:t>12-MONTH TARGET  </a:t>
            </a:r>
            <a:r>
              <a:rPr sz="1250" b="0" i="0">
                <a:solidFill>
                  <a:srgbClr val="66707E"/>
                </a:solidFill>
                <a:latin typeface="Helvetica Neue"/>
              </a:rPr>
              <a:t>40 paying teams and a first enterprise logo, about $50k ARR. Pre-revenue today.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200">
                <a:solidFill>
                  <a:srgbClr val="8A929D"/>
                </a:solidFill>
                <a:latin typeface="Menlo"/>
              </a:rPr>
              <a:t>REVIVE · SEED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235440" y="320040"/>
            <a:ext cx="274320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5000" b="1" i="0">
                <a:solidFill>
                  <a:srgbClr val="E4E7DF"/>
                </a:solidFill>
                <a:latin typeface="Menlo"/>
              </a:rPr>
              <a:t>11</a:t>
            </a:r>
          </a:p>
        </p:txBody>
      </p:sp>
      <p:sp>
        <p:nvSpPr>
          <p:cNvPr id="4" name="Rectangle 3"/>
          <p:cNvSpPr/>
          <p:nvPr/>
        </p:nvSpPr>
        <p:spPr>
          <a:xfrm>
            <a:off x="292608" y="285292"/>
            <a:ext cx="146304" cy="14630"/>
          </a:xfrm>
          <a:prstGeom prst="rect">
            <a:avLst/>
          </a:prstGeom>
          <a:solidFill>
            <a:srgbClr val="C9CE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85292" y="292608"/>
            <a:ext cx="14630" cy="146304"/>
          </a:xfrm>
          <a:prstGeom prst="rect">
            <a:avLst/>
          </a:prstGeom>
          <a:solidFill>
            <a:srgbClr val="C9CE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752783" y="285292"/>
            <a:ext cx="146304" cy="14630"/>
          </a:xfrm>
          <a:prstGeom prst="rect">
            <a:avLst/>
          </a:prstGeom>
          <a:solidFill>
            <a:srgbClr val="C9CE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891772" y="292608"/>
            <a:ext cx="14630" cy="146304"/>
          </a:xfrm>
          <a:prstGeom prst="rect">
            <a:avLst/>
          </a:prstGeom>
          <a:solidFill>
            <a:srgbClr val="C9CE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92608" y="6558076"/>
            <a:ext cx="146304" cy="14630"/>
          </a:xfrm>
          <a:prstGeom prst="rect">
            <a:avLst/>
          </a:prstGeom>
          <a:solidFill>
            <a:srgbClr val="C9CE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85292" y="6419088"/>
            <a:ext cx="14630" cy="146304"/>
          </a:xfrm>
          <a:prstGeom prst="rect">
            <a:avLst/>
          </a:prstGeom>
          <a:solidFill>
            <a:srgbClr val="C9CE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752783" y="6558076"/>
            <a:ext cx="146304" cy="14630"/>
          </a:xfrm>
          <a:prstGeom prst="rect">
            <a:avLst/>
          </a:prstGeom>
          <a:solidFill>
            <a:srgbClr val="C9CE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891772" y="6419088"/>
            <a:ext cx="14630" cy="146304"/>
          </a:xfrm>
          <a:prstGeom prst="rect">
            <a:avLst/>
          </a:prstGeom>
          <a:solidFill>
            <a:srgbClr val="C9CE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777240"/>
            <a:ext cx="8229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 spc="240">
                <a:solidFill>
                  <a:srgbClr val="2E49C8"/>
                </a:solidFill>
                <a:latin typeface="Menlo"/>
              </a:rPr>
              <a:t>TEAM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118872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151922"/>
                </a:solidFill>
                <a:latin typeface="Helvetica Neue"/>
              </a:rPr>
              <a:t>Three technical founders. All ship code.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73252" y="2382012"/>
            <a:ext cx="3346704" cy="3383280"/>
          </a:xfrm>
          <a:prstGeom prst="rect">
            <a:avLst/>
          </a:prstGeom>
          <a:solidFill>
            <a:srgbClr val="D9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2331720"/>
            <a:ext cx="3346704" cy="3383280"/>
          </a:xfrm>
          <a:prstGeom prst="rect">
            <a:avLst/>
          </a:prstGeom>
          <a:solidFill>
            <a:srgbClr val="FBFCF8"/>
          </a:solidFill>
          <a:ln w="15875">
            <a:solidFill>
              <a:srgbClr val="1519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569464" y="2441448"/>
            <a:ext cx="14630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5800" b="1" i="0">
                <a:solidFill>
                  <a:srgbClr val="EEF0EB"/>
                </a:solidFill>
                <a:latin typeface="Menlo"/>
              </a:rPr>
              <a:t>SS</a:t>
            </a:r>
          </a:p>
        </p:txBody>
      </p:sp>
      <p:sp>
        <p:nvSpPr>
          <p:cNvPr id="17" name="Oval 16"/>
          <p:cNvSpPr/>
          <p:nvPr/>
        </p:nvSpPr>
        <p:spPr>
          <a:xfrm>
            <a:off x="1115568" y="2651760"/>
            <a:ext cx="1005840" cy="1005840"/>
          </a:xfrm>
          <a:prstGeom prst="ellipse">
            <a:avLst/>
          </a:prstGeom>
          <a:solidFill>
            <a:srgbClr val="EDF0FF"/>
          </a:solidFill>
          <a:ln w="15875">
            <a:solidFill>
              <a:srgbClr val="4967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15568" y="2651760"/>
            <a:ext cx="1005840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 i="0">
                <a:solidFill>
                  <a:srgbClr val="2E49C8"/>
                </a:solidFill>
                <a:latin typeface="Menlo"/>
              </a:rPr>
              <a:t>SS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3886200"/>
            <a:ext cx="284378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151922"/>
                </a:solidFill>
                <a:latin typeface="Helvetica Neue"/>
              </a:rPr>
              <a:t>Srikanth Samy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4343400"/>
            <a:ext cx="284378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 spc="240">
                <a:solidFill>
                  <a:srgbClr val="2E49C8"/>
                </a:solidFill>
                <a:latin typeface="Menlo"/>
              </a:rPr>
              <a:t>CO-FOUNDER &amp; CEO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4663440"/>
            <a:ext cx="28437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66707E"/>
                </a:solidFill>
                <a:latin typeface="Menlo"/>
              </a:rPr>
              <a:t>UC Berkeley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" y="4983479"/>
            <a:ext cx="2843784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66707E"/>
                </a:solidFill>
                <a:latin typeface="Helvetica Neue"/>
              </a:rPr>
              <a:t>Built the entire system and proved it in production. Leads product and engineering.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12564" y="2382012"/>
            <a:ext cx="3346704" cy="3383280"/>
          </a:xfrm>
          <a:prstGeom prst="rect">
            <a:avLst/>
          </a:prstGeom>
          <a:solidFill>
            <a:srgbClr val="D9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462272" y="2331720"/>
            <a:ext cx="3346704" cy="3383280"/>
          </a:xfrm>
          <a:prstGeom prst="rect">
            <a:avLst/>
          </a:prstGeom>
          <a:solidFill>
            <a:srgbClr val="FBFCF8"/>
          </a:solidFill>
          <a:ln w="15875">
            <a:solidFill>
              <a:srgbClr val="1519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08775" y="2441448"/>
            <a:ext cx="14630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5800" b="1" i="0">
                <a:solidFill>
                  <a:srgbClr val="EEF0EB"/>
                </a:solidFill>
                <a:latin typeface="Menlo"/>
              </a:rPr>
              <a:t>RG</a:t>
            </a:r>
          </a:p>
        </p:txBody>
      </p:sp>
      <p:sp>
        <p:nvSpPr>
          <p:cNvPr id="26" name="Oval 25"/>
          <p:cNvSpPr/>
          <p:nvPr/>
        </p:nvSpPr>
        <p:spPr>
          <a:xfrm>
            <a:off x="4754880" y="2651760"/>
            <a:ext cx="1005840" cy="1005840"/>
          </a:xfrm>
          <a:prstGeom prst="ellipse">
            <a:avLst/>
          </a:prstGeom>
          <a:solidFill>
            <a:srgbClr val="EDF0FF"/>
          </a:solidFill>
          <a:ln w="15875">
            <a:solidFill>
              <a:srgbClr val="4967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54880" y="2651760"/>
            <a:ext cx="1005840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 i="0">
                <a:solidFill>
                  <a:srgbClr val="2E49C8"/>
                </a:solidFill>
                <a:latin typeface="Menlo"/>
              </a:rPr>
              <a:t>RG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36592" y="3886200"/>
            <a:ext cx="284378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151922"/>
                </a:solidFill>
                <a:latin typeface="Helvetica Neue"/>
              </a:rPr>
              <a:t>Revanth Guda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54880" y="4343400"/>
            <a:ext cx="284378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 spc="240">
                <a:solidFill>
                  <a:srgbClr val="2E49C8"/>
                </a:solidFill>
                <a:latin typeface="Menlo"/>
              </a:rPr>
              <a:t>CO-FOUNDER &amp; CTO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36592" y="4663440"/>
            <a:ext cx="28437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66707E"/>
                </a:solidFill>
                <a:latin typeface="Menlo"/>
              </a:rPr>
              <a:t>UCLA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36592" y="4983479"/>
            <a:ext cx="2843784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66707E"/>
                </a:solidFill>
                <a:latin typeface="Helvetica Neue"/>
              </a:rPr>
              <a:t>Owns infrastructure and provider integrations, the connectors that make every platform recoverable.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151875" y="2382012"/>
            <a:ext cx="3346704" cy="3383280"/>
          </a:xfrm>
          <a:prstGeom prst="rect">
            <a:avLst/>
          </a:prstGeom>
          <a:solidFill>
            <a:srgbClr val="D9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101583" y="2331720"/>
            <a:ext cx="3346704" cy="3383280"/>
          </a:xfrm>
          <a:prstGeom prst="rect">
            <a:avLst/>
          </a:prstGeom>
          <a:solidFill>
            <a:srgbClr val="FBFCF8"/>
          </a:solidFill>
          <a:ln w="15875">
            <a:solidFill>
              <a:srgbClr val="1519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848088" y="2441448"/>
            <a:ext cx="14630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5800" b="1" i="0">
                <a:solidFill>
                  <a:srgbClr val="EEF0EB"/>
                </a:solidFill>
                <a:latin typeface="Menlo"/>
              </a:rPr>
              <a:t>AP</a:t>
            </a:r>
          </a:p>
        </p:txBody>
      </p:sp>
      <p:sp>
        <p:nvSpPr>
          <p:cNvPr id="35" name="Oval 34"/>
          <p:cNvSpPr/>
          <p:nvPr/>
        </p:nvSpPr>
        <p:spPr>
          <a:xfrm>
            <a:off x="8394192" y="2651760"/>
            <a:ext cx="1005840" cy="1005840"/>
          </a:xfrm>
          <a:prstGeom prst="ellipse">
            <a:avLst/>
          </a:prstGeom>
          <a:solidFill>
            <a:srgbClr val="EDF0FF"/>
          </a:solidFill>
          <a:ln w="15875">
            <a:solidFill>
              <a:srgbClr val="4967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394192" y="2651760"/>
            <a:ext cx="1005840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 i="0">
                <a:solidFill>
                  <a:srgbClr val="2E49C8"/>
                </a:solidFill>
                <a:latin typeface="Menlo"/>
              </a:rPr>
              <a:t>AP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75904" y="3886200"/>
            <a:ext cx="284378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151922"/>
                </a:solidFill>
                <a:latin typeface="Helvetica Neue"/>
              </a:rPr>
              <a:t>Aarush Parekh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94192" y="4343400"/>
            <a:ext cx="284378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 spc="240">
                <a:solidFill>
                  <a:srgbClr val="2E49C8"/>
                </a:solidFill>
                <a:latin typeface="Menlo"/>
              </a:rPr>
              <a:t>CO-FOUNDER · ENGINEERING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75904" y="4663440"/>
            <a:ext cx="28437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66707E"/>
                </a:solidFill>
                <a:latin typeface="Menlo"/>
              </a:rPr>
              <a:t>UC Santa Cruz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75904" y="4983479"/>
            <a:ext cx="2843784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66707E"/>
                </a:solidFill>
                <a:latin typeface="Helvetica Neue"/>
              </a:rPr>
              <a:t>Owns SDKs and developer experience, the one-line install that gets Revive into every agent stack.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200">
                <a:solidFill>
                  <a:srgbClr val="8A929D"/>
                </a:solidFill>
                <a:latin typeface="Menlo"/>
              </a:rPr>
              <a:t>REVIVE · SEED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92608" y="285292"/>
            <a:ext cx="146304" cy="14630"/>
          </a:xfrm>
          <a:prstGeom prst="rect">
            <a:avLst/>
          </a:prstGeom>
          <a:solidFill>
            <a:srgbClr val="C9CE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85292" y="292608"/>
            <a:ext cx="14630" cy="146304"/>
          </a:xfrm>
          <a:prstGeom prst="rect">
            <a:avLst/>
          </a:prstGeom>
          <a:solidFill>
            <a:srgbClr val="C9CE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752783" y="285292"/>
            <a:ext cx="146304" cy="14630"/>
          </a:xfrm>
          <a:prstGeom prst="rect">
            <a:avLst/>
          </a:prstGeom>
          <a:solidFill>
            <a:srgbClr val="C9CE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891772" y="292608"/>
            <a:ext cx="14630" cy="146304"/>
          </a:xfrm>
          <a:prstGeom prst="rect">
            <a:avLst/>
          </a:prstGeom>
          <a:solidFill>
            <a:srgbClr val="C9CE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92608" y="6558076"/>
            <a:ext cx="146304" cy="14630"/>
          </a:xfrm>
          <a:prstGeom prst="rect">
            <a:avLst/>
          </a:prstGeom>
          <a:solidFill>
            <a:srgbClr val="C9CE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85292" y="6419088"/>
            <a:ext cx="14630" cy="146304"/>
          </a:xfrm>
          <a:prstGeom prst="rect">
            <a:avLst/>
          </a:prstGeom>
          <a:solidFill>
            <a:srgbClr val="C9CE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52783" y="6558076"/>
            <a:ext cx="146304" cy="14630"/>
          </a:xfrm>
          <a:prstGeom prst="rect">
            <a:avLst/>
          </a:prstGeom>
          <a:solidFill>
            <a:srgbClr val="C9CE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891772" y="6419088"/>
            <a:ext cx="14630" cy="146304"/>
          </a:xfrm>
          <a:prstGeom prst="rect">
            <a:avLst/>
          </a:prstGeom>
          <a:solidFill>
            <a:srgbClr val="C9CE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0"/>
            <a:ext cx="4937760" cy="6858000"/>
          </a:xfrm>
          <a:prstGeom prst="rect">
            <a:avLst/>
          </a:prstGeom>
          <a:solidFill>
            <a:srgbClr val="1519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868680"/>
            <a:ext cx="8229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 spc="240">
                <a:solidFill>
                  <a:srgbClr val="8EA0FF"/>
                </a:solidFill>
                <a:latin typeface="Menlo"/>
              </a:rPr>
              <a:t>ALREADY DONE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1554480"/>
            <a:ext cx="3840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3FBF8F"/>
                </a:solidFill>
                <a:latin typeface="Helvetica Neue"/>
              </a:rPr>
              <a:t>✓  </a:t>
            </a:r>
            <a:r>
              <a:rPr sz="1600" b="1" i="0">
                <a:solidFill>
                  <a:srgbClr val="FFFFFF"/>
                </a:solidFill>
                <a:latin typeface="Helvetica Neue"/>
              </a:rPr>
              <a:t>Live product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2121408"/>
            <a:ext cx="3840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3FBF8F"/>
                </a:solidFill>
                <a:latin typeface="Helvetica Neue"/>
              </a:rPr>
              <a:t>✓  </a:t>
            </a:r>
            <a:r>
              <a:rPr sz="1600" b="1" i="0">
                <a:solidFill>
                  <a:srgbClr val="FFFFFF"/>
                </a:solidFill>
                <a:latin typeface="Helvetica Neue"/>
              </a:rPr>
              <a:t>Works in production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2688336"/>
            <a:ext cx="3840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3FBF8F"/>
                </a:solidFill>
                <a:latin typeface="Helvetica Neue"/>
              </a:rPr>
              <a:t>✓  </a:t>
            </a:r>
            <a:r>
              <a:rPr sz="1600" b="1" i="0">
                <a:solidFill>
                  <a:srgbClr val="FFFFFF"/>
                </a:solidFill>
                <a:latin typeface="Helvetica Neue"/>
              </a:rPr>
              <a:t>Developer tools shipped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5394960"/>
            <a:ext cx="3749039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FFFFFF"/>
                </a:solidFill>
                <a:latin typeface="Helvetica Neue"/>
              </a:rPr>
              <a:t>Honest: no customers yet.
</a:t>
            </a:r>
            <a:r>
              <a:rPr sz="1300" b="0" i="0">
                <a:solidFill>
                  <a:srgbClr val="9AA6C8"/>
                </a:solidFill>
                <a:latin typeface="Helvetica Neue"/>
              </a:rPr>
              <a:t>This is the 60-day plan
to change that.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0" y="868680"/>
            <a:ext cx="8229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 spc="240">
                <a:solidFill>
                  <a:srgbClr val="2E49C8"/>
                </a:solidFill>
                <a:latin typeface="Menlo"/>
              </a:rPr>
              <a:t>NEXT 60 DAYS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23560" y="1280160"/>
            <a:ext cx="6035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51922"/>
                </a:solidFill>
                <a:latin typeface="Helvetica Neue"/>
              </a:rPr>
              <a:t>It's built. Now we prove
people want it.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0" y="2926079"/>
            <a:ext cx="41148" cy="731520"/>
          </a:xfrm>
          <a:prstGeom prst="rect">
            <a:avLst/>
          </a:prstGeom>
          <a:solidFill>
            <a:srgbClr val="496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0" y="2880360"/>
            <a:ext cx="576072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2E49C8"/>
                </a:solidFill>
                <a:latin typeface="Menlo"/>
              </a:rPr>
              <a:t>30+  </a:t>
            </a:r>
            <a:r>
              <a:rPr sz="1600" b="1" i="0">
                <a:solidFill>
                  <a:srgbClr val="151922"/>
                </a:solidFill>
                <a:latin typeface="Helvetica Neue"/>
              </a:rPr>
              <a:t>interviews with agent teams</a:t>
            </a:r>
          </a:p>
          <a:p>
            <a:pPr algn="l">
              <a:spcBef>
                <a:spcPts val="300"/>
              </a:spcBef>
            </a:pPr>
            <a:r>
              <a:rPr sz="1200" b="0" i="0">
                <a:solidFill>
                  <a:srgbClr val="66707E"/>
                </a:solidFill>
                <a:latin typeface="Helvetica Neue"/>
              </a:rPr>
              <a:t>get the pain in their words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0" y="3858768"/>
            <a:ext cx="41148" cy="731520"/>
          </a:xfrm>
          <a:prstGeom prst="rect">
            <a:avLst/>
          </a:prstGeom>
          <a:solidFill>
            <a:srgbClr val="496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0" y="3813048"/>
            <a:ext cx="576072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2E49C8"/>
                </a:solidFill>
                <a:latin typeface="Menlo"/>
              </a:rPr>
              <a:t>5  </a:t>
            </a:r>
            <a:r>
              <a:rPr sz="1600" b="1" i="0">
                <a:solidFill>
                  <a:srgbClr val="151922"/>
                </a:solidFill>
                <a:latin typeface="Helvetica Neue"/>
              </a:rPr>
              <a:t>design-partner pilots</a:t>
            </a:r>
          </a:p>
          <a:p>
            <a:pPr algn="l">
              <a:spcBef>
                <a:spcPts val="300"/>
              </a:spcBef>
            </a:pPr>
            <a:r>
              <a:rPr sz="1200" b="0" i="0">
                <a:solidFill>
                  <a:srgbClr val="66707E"/>
                </a:solidFill>
                <a:latin typeface="Helvetica Neue"/>
              </a:rPr>
              <a:t>free plan for a real case study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0" y="4791455"/>
            <a:ext cx="41148" cy="731520"/>
          </a:xfrm>
          <a:prstGeom prst="rect">
            <a:avLst/>
          </a:prstGeom>
          <a:solidFill>
            <a:srgbClr val="496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0" y="4745736"/>
            <a:ext cx="576072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51922"/>
                </a:solidFill>
                <a:latin typeface="Helvetica Neue"/>
              </a:rPr>
              <a:t>measure demand</a:t>
            </a:r>
          </a:p>
          <a:p>
            <a:pPr algn="l">
              <a:spcBef>
                <a:spcPts val="300"/>
              </a:spcBef>
            </a:pPr>
            <a:r>
              <a:rPr sz="1200" b="0" i="0">
                <a:solidFill>
                  <a:srgbClr val="66707E"/>
                </a:solidFill>
                <a:latin typeface="Helvetica Neue"/>
              </a:rPr>
              <a:t>installs · waitlist · community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69280" y="5724143"/>
            <a:ext cx="41148" cy="731520"/>
          </a:xfrm>
          <a:prstGeom prst="rect">
            <a:avLst/>
          </a:prstGeom>
          <a:solidFill>
            <a:srgbClr val="496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43600" y="5678423"/>
            <a:ext cx="576072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2E49C8"/>
                </a:solidFill>
                <a:latin typeface="Menlo"/>
              </a:rPr>
              <a:t>#1  </a:t>
            </a:r>
            <a:r>
              <a:rPr sz="1600" b="1" i="0">
                <a:solidFill>
                  <a:srgbClr val="151922"/>
                </a:solidFill>
                <a:latin typeface="Helvetica Neue"/>
              </a:rPr>
              <a:t>publish the first pilot</a:t>
            </a:r>
          </a:p>
          <a:p>
            <a:pPr algn="l">
              <a:spcBef>
                <a:spcPts val="300"/>
              </a:spcBef>
            </a:pPr>
            <a:r>
              <a:rPr sz="1200" b="0" i="0">
                <a:solidFill>
                  <a:srgbClr val="66707E"/>
                </a:solidFill>
                <a:latin typeface="Helvetica Neue"/>
              </a:rPr>
              <a:t>the first real numbers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200">
                <a:solidFill>
                  <a:srgbClr val="1E2431"/>
                </a:solidFill>
                <a:latin typeface="Menlo"/>
              </a:rPr>
              <a:t>REVIVE · SEED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235440" y="320040"/>
            <a:ext cx="274320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5000" b="1" i="0">
                <a:solidFill>
                  <a:srgbClr val="E4E7DF"/>
                </a:solidFill>
                <a:latin typeface="Menlo"/>
              </a:rPr>
              <a:t>13</a:t>
            </a:r>
          </a:p>
        </p:txBody>
      </p:sp>
      <p:sp>
        <p:nvSpPr>
          <p:cNvPr id="4" name="Rectangle 3"/>
          <p:cNvSpPr/>
          <p:nvPr/>
        </p:nvSpPr>
        <p:spPr>
          <a:xfrm>
            <a:off x="292608" y="285292"/>
            <a:ext cx="146304" cy="14630"/>
          </a:xfrm>
          <a:prstGeom prst="rect">
            <a:avLst/>
          </a:prstGeom>
          <a:solidFill>
            <a:srgbClr val="C9CE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85292" y="292608"/>
            <a:ext cx="14630" cy="146304"/>
          </a:xfrm>
          <a:prstGeom prst="rect">
            <a:avLst/>
          </a:prstGeom>
          <a:solidFill>
            <a:srgbClr val="C9CE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752783" y="285292"/>
            <a:ext cx="146304" cy="14630"/>
          </a:xfrm>
          <a:prstGeom prst="rect">
            <a:avLst/>
          </a:prstGeom>
          <a:solidFill>
            <a:srgbClr val="C9CE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891772" y="292608"/>
            <a:ext cx="14630" cy="146304"/>
          </a:xfrm>
          <a:prstGeom prst="rect">
            <a:avLst/>
          </a:prstGeom>
          <a:solidFill>
            <a:srgbClr val="C9CE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92608" y="6558076"/>
            <a:ext cx="146304" cy="14630"/>
          </a:xfrm>
          <a:prstGeom prst="rect">
            <a:avLst/>
          </a:prstGeom>
          <a:solidFill>
            <a:srgbClr val="C9CE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85292" y="6419088"/>
            <a:ext cx="14630" cy="146304"/>
          </a:xfrm>
          <a:prstGeom prst="rect">
            <a:avLst/>
          </a:prstGeom>
          <a:solidFill>
            <a:srgbClr val="C9CE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752783" y="6558076"/>
            <a:ext cx="146304" cy="14630"/>
          </a:xfrm>
          <a:prstGeom prst="rect">
            <a:avLst/>
          </a:prstGeom>
          <a:solidFill>
            <a:srgbClr val="C9CE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891772" y="6419088"/>
            <a:ext cx="14630" cy="146304"/>
          </a:xfrm>
          <a:prstGeom prst="rect">
            <a:avLst/>
          </a:prstGeom>
          <a:solidFill>
            <a:srgbClr val="C9CE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496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822960"/>
            <a:ext cx="8229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 spc="240">
                <a:solidFill>
                  <a:srgbClr val="2E49C8"/>
                </a:solidFill>
                <a:latin typeface="Menlo"/>
              </a:rPr>
              <a:t>THE ASK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1051560"/>
            <a:ext cx="1078992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0" b="1" i="0">
                <a:solidFill>
                  <a:srgbClr val="151922"/>
                </a:solidFill>
                <a:latin typeface="Helvetica Neue"/>
              </a:rPr>
              <a:t>$750k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" y="3063240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 spc="220">
                <a:solidFill>
                  <a:srgbClr val="2E49C8"/>
                </a:solidFill>
                <a:latin typeface="Menlo"/>
              </a:rPr>
              <a:t>18-MONTH RUNWAY</a:t>
            </a:r>
            <a:r>
              <a:rPr sz="1400" b="0" i="0">
                <a:solidFill>
                  <a:srgbClr val="66707E"/>
                </a:solidFill>
                <a:latin typeface="Helvetica Neue"/>
              </a:rPr>
              <a:t>      one risk left: distribution. Here is what the money turns it into.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3886200"/>
            <a:ext cx="338328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2E49C8"/>
                </a:solidFill>
                <a:latin typeface="Helvetica Neue"/>
              </a:rPr>
              <a:t>5 → 10+</a:t>
            </a:r>
          </a:p>
          <a:p>
            <a:pPr algn="l">
              <a:lnSpc>
                <a:spcPct val="110000"/>
              </a:lnSpc>
              <a:spcBef>
                <a:spcPts val="500"/>
              </a:spcBef>
            </a:pPr>
            <a:r>
              <a:rPr sz="1300" b="1" i="0">
                <a:solidFill>
                  <a:srgbClr val="151922"/>
                </a:solidFill>
                <a:latin typeface="Helvetica Neue"/>
              </a:rPr>
              <a:t>pilots turned into paying teams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59536" y="5074920"/>
            <a:ext cx="3017520" cy="32004"/>
          </a:xfrm>
          <a:prstGeom prst="rect">
            <a:avLst/>
          </a:prstGeom>
          <a:solidFill>
            <a:srgbClr val="C9CE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61688" y="3886200"/>
            <a:ext cx="338328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2E49C8"/>
                </a:solidFill>
                <a:latin typeface="Helvetica Neue"/>
              </a:rPr>
              <a:t>3 + 1</a:t>
            </a:r>
          </a:p>
          <a:p>
            <a:pPr algn="l">
              <a:lnSpc>
                <a:spcPct val="110000"/>
              </a:lnSpc>
              <a:spcBef>
                <a:spcPts val="500"/>
              </a:spcBef>
            </a:pPr>
            <a:r>
              <a:rPr sz="1300" b="1" i="0">
                <a:solidFill>
                  <a:srgbClr val="151922"/>
                </a:solidFill>
                <a:latin typeface="Helvetica Neue"/>
              </a:rPr>
              <a:t>integrations live, first enterprise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79976" y="5074920"/>
            <a:ext cx="3017520" cy="32004"/>
          </a:xfrm>
          <a:prstGeom prst="rect">
            <a:avLst/>
          </a:prstGeom>
          <a:solidFill>
            <a:srgbClr val="C9CE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882128" y="3886200"/>
            <a:ext cx="338328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2E49C8"/>
                </a:solidFill>
                <a:latin typeface="Helvetica Neue"/>
              </a:rPr>
              <a:t>~$450k</a:t>
            </a:r>
          </a:p>
          <a:p>
            <a:pPr algn="l">
              <a:lnSpc>
                <a:spcPct val="110000"/>
              </a:lnSpc>
              <a:spcBef>
                <a:spcPts val="500"/>
              </a:spcBef>
            </a:pPr>
            <a:r>
              <a:rPr sz="1300" b="1" i="0">
                <a:solidFill>
                  <a:srgbClr val="151922"/>
                </a:solidFill>
                <a:latin typeface="Helvetica Neue"/>
              </a:rPr>
              <a:t>ARR, ready to raise the 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00416" y="5074920"/>
            <a:ext cx="3017520" cy="32004"/>
          </a:xfrm>
          <a:prstGeom prst="rect">
            <a:avLst/>
          </a:prstGeom>
          <a:solidFill>
            <a:srgbClr val="C9CE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86968" y="5623560"/>
            <a:ext cx="10469880" cy="777240"/>
          </a:xfrm>
          <a:prstGeom prst="rect">
            <a:avLst/>
          </a:prstGeom>
          <a:solidFill>
            <a:srgbClr val="D9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41248" y="5577840"/>
            <a:ext cx="10469880" cy="777240"/>
          </a:xfrm>
          <a:prstGeom prst="rect">
            <a:avLst/>
          </a:prstGeom>
          <a:solidFill>
            <a:srgbClr val="1519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43000" y="5577840"/>
            <a:ext cx="996696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 spc="160">
                <a:solidFill>
                  <a:srgbClr val="8EA0FF"/>
                </a:solidFill>
                <a:latin typeface="Menlo"/>
              </a:rPr>
              <a:t>THE MONEY BUYS   </a:t>
            </a:r>
            <a:r>
              <a:rPr sz="1300" b="0" i="0">
                <a:solidFill>
                  <a:srgbClr val="FFFFFF"/>
                </a:solidFill>
                <a:latin typeface="Helvetica Neue"/>
              </a:rPr>
              <a:t>runway for the team · first sales hire · two more integrations · security groundwork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200">
                <a:solidFill>
                  <a:srgbClr val="8A929D"/>
                </a:solidFill>
                <a:latin typeface="Menlo"/>
              </a:rPr>
              <a:t>REVIVE · SEED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519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92608" y="285292"/>
            <a:ext cx="146304" cy="14630"/>
          </a:xfrm>
          <a:prstGeom prst="rect">
            <a:avLst/>
          </a:prstGeom>
          <a:solidFill>
            <a:srgbClr val="1E24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85292" y="292608"/>
            <a:ext cx="14630" cy="146304"/>
          </a:xfrm>
          <a:prstGeom prst="rect">
            <a:avLst/>
          </a:prstGeom>
          <a:solidFill>
            <a:srgbClr val="1E24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752783" y="285292"/>
            <a:ext cx="146304" cy="14630"/>
          </a:xfrm>
          <a:prstGeom prst="rect">
            <a:avLst/>
          </a:prstGeom>
          <a:solidFill>
            <a:srgbClr val="1E24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891772" y="292608"/>
            <a:ext cx="14630" cy="146304"/>
          </a:xfrm>
          <a:prstGeom prst="rect">
            <a:avLst/>
          </a:prstGeom>
          <a:solidFill>
            <a:srgbClr val="1E24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92608" y="6558076"/>
            <a:ext cx="146304" cy="14630"/>
          </a:xfrm>
          <a:prstGeom prst="rect">
            <a:avLst/>
          </a:prstGeom>
          <a:solidFill>
            <a:srgbClr val="1E24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85292" y="6419088"/>
            <a:ext cx="14630" cy="146304"/>
          </a:xfrm>
          <a:prstGeom prst="rect">
            <a:avLst/>
          </a:prstGeom>
          <a:solidFill>
            <a:srgbClr val="1E24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52783" y="6558076"/>
            <a:ext cx="146304" cy="14630"/>
          </a:xfrm>
          <a:prstGeom prst="rect">
            <a:avLst/>
          </a:prstGeom>
          <a:solidFill>
            <a:srgbClr val="1E24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891772" y="6419088"/>
            <a:ext cx="14630" cy="146304"/>
          </a:xfrm>
          <a:prstGeom prst="rect">
            <a:avLst/>
          </a:prstGeom>
          <a:solidFill>
            <a:srgbClr val="1E24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0" y="3931920"/>
            <a:ext cx="6583680" cy="292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22000" b="1" i="0">
                <a:solidFill>
                  <a:srgbClr val="1E2431"/>
                </a:solidFill>
                <a:latin typeface="Helvetica Neue"/>
              </a:rPr>
              <a:t>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1371600"/>
            <a:ext cx="8229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 spc="240">
                <a:solidFill>
                  <a:srgbClr val="8EA0FF"/>
                </a:solidFill>
                <a:latin typeface="Menlo"/>
              </a:rPr>
              <a:t>REVIVE LABS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2194560"/>
            <a:ext cx="1042416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4400" b="1" i="0">
                <a:solidFill>
                  <a:srgbClr val="FFFFFF"/>
                </a:solidFill>
                <a:latin typeface="Helvetica Neue"/>
              </a:rPr>
              <a:t>Agents are getting hands.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4400" b="1" i="0">
                <a:solidFill>
                  <a:srgbClr val="8EA0FF"/>
                </a:solidFill>
                <a:latin typeface="Helvetica Neue"/>
              </a:rPr>
              <a:t>Someone has to own what happens
when the hands slip.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577840"/>
            <a:ext cx="104241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Helvetica Neue"/>
              </a:rPr>
              <a:t>founders@revivelabs.app</a:t>
            </a:r>
            <a:r>
              <a:rPr sz="1350" b="0" i="0">
                <a:solidFill>
                  <a:srgbClr val="9AA6C8"/>
                </a:solidFill>
                <a:latin typeface="Helvetica Neue"/>
              </a:rPr>
              <a:t>   ·   revivelabs.app   ·   deck and data room on request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